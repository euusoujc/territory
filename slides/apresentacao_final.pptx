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9144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0" i="0">
                <a:solidFill>
                  <a:srgbClr val="5B6B7C"/>
                </a:solidFill>
                <a:latin typeface="Arial Narrow"/>
              </a:rPr>
              <a:t>ANÁLISE DE DADOS PARA PLANEJAMENTO TERRITORIAL · UFABC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6000" b="1" i="0">
                <a:solidFill>
                  <a:srgbClr val="17222E"/>
                </a:solidFill>
                <a:latin typeface="Arial Narrow"/>
              </a:rPr>
              <a:t>CRIME E TERRITÓRIO</a:t>
            </a:r>
          </a:p>
          <a:p>
            <a:pPr algn="l">
              <a:spcBef>
                <a:spcPts val="600"/>
              </a:spcBef>
            </a:pPr>
            <a:r>
              <a:rPr sz="6000" b="1" i="0">
                <a:solidFill>
                  <a:srgbClr val="D95F02"/>
                </a:solidFill>
                <a:latin typeface="Arial Narrow"/>
              </a:rPr>
              <a:t>TEM PRAIA NO MEIO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657600"/>
            <a:ext cx="8686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800" b="0" i="0">
                <a:solidFill>
                  <a:srgbClr val="17222E"/>
                </a:solidFill>
                <a:latin typeface="Georgia"/>
              </a:rPr>
              <a:t>A gente foi atrás de entender o furto nos municípios de São Paulo e descobriu que a resposta não estava na renda, e sim no mapa.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663440"/>
            <a:ext cx="2103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2800" b="1" i="0">
                <a:solidFill>
                  <a:srgbClr val="D95F02"/>
                </a:solidFill>
                <a:latin typeface="Arial Narrow"/>
              </a:rPr>
              <a:t>645</a:t>
            </a:r>
          </a:p>
          <a:p>
            <a:pPr algn="l">
              <a:spcBef>
                <a:spcPts val="600"/>
              </a:spcBef>
            </a:pPr>
            <a:r>
              <a:rPr sz="1100" b="0" i="0">
                <a:solidFill>
                  <a:srgbClr val="5B6B7C"/>
                </a:solidFill>
                <a:latin typeface="Arial Narrow"/>
              </a:rPr>
              <a:t>MUNICÍPIOS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17520" y="4663440"/>
            <a:ext cx="2103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2800" b="1" i="0">
                <a:solidFill>
                  <a:srgbClr val="D95F02"/>
                </a:solidFill>
                <a:latin typeface="Arial Narrow"/>
              </a:rPr>
              <a:t>2025</a:t>
            </a:r>
          </a:p>
          <a:p>
            <a:pPr algn="l">
              <a:spcBef>
                <a:spcPts val="600"/>
              </a:spcBef>
            </a:pPr>
            <a:r>
              <a:rPr sz="1100" b="0" i="0">
                <a:solidFill>
                  <a:srgbClr val="5B6B7C"/>
                </a:solidFill>
                <a:latin typeface="Arial Narrow"/>
              </a:rPr>
              <a:t>DADOS DE CRIME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80" y="4663440"/>
            <a:ext cx="2103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2800" b="1" i="0">
                <a:solidFill>
                  <a:srgbClr val="D95F02"/>
                </a:solidFill>
                <a:latin typeface="Arial Narrow"/>
              </a:rPr>
              <a:t>16</a:t>
            </a:r>
          </a:p>
          <a:p>
            <a:pPr algn="l">
              <a:spcBef>
                <a:spcPts val="600"/>
              </a:spcBef>
            </a:pPr>
            <a:r>
              <a:rPr sz="1100" b="0" i="0">
                <a:solidFill>
                  <a:srgbClr val="5B6B7C"/>
                </a:solidFill>
                <a:latin typeface="Arial Narrow"/>
              </a:rPr>
              <a:t>CIDADES DE PRAIA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0" y="4663440"/>
            <a:ext cx="2103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2800" b="1" i="0">
                <a:solidFill>
                  <a:srgbClr val="D95F02"/>
                </a:solidFill>
                <a:latin typeface="Arial Narrow"/>
              </a:rPr>
              <a:t>/1.000</a:t>
            </a:r>
          </a:p>
          <a:p>
            <a:pPr algn="l">
              <a:spcBef>
                <a:spcPts val="600"/>
              </a:spcBef>
            </a:pPr>
            <a:r>
              <a:rPr sz="1100" b="0" i="0">
                <a:solidFill>
                  <a:srgbClr val="5B6B7C"/>
                </a:solidFill>
                <a:latin typeface="Arial Narrow"/>
              </a:rPr>
              <a:t>FURTOS POR HAB.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7607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7222E"/>
                </a:solidFill>
                <a:latin typeface="Georgia"/>
              </a:rPr>
              <a:t>João Vitor Oliveira · Julio Cesar Salvino · Lucas Amorim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B6B7C"/>
                </a:solidFill>
                <a:latin typeface="Georgia"/>
              </a:rPr>
              <a:t>Orientação: Prof.ª Flávia da Fonseca Feitosa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 i="0">
                <a:solidFill>
                  <a:srgbClr val="D95F02"/>
                </a:solidFill>
                <a:latin typeface="Arial Narrow"/>
              </a:rPr>
              <a:t>DE ONDE VIERAM OS DADOS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749808"/>
            <a:ext cx="10515600" cy="15240"/>
          </a:xfrm>
          <a:prstGeom prst="rect">
            <a:avLst/>
          </a:prstGeom>
          <a:solidFill>
            <a:srgbClr val="D8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0" y="384048"/>
            <a:ext cx="1600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</a:pPr>
            <a:r>
              <a:rPr sz="1200" b="0" i="0">
                <a:solidFill>
                  <a:srgbClr val="5B6B7C"/>
                </a:solidFill>
                <a:latin typeface="Arial Narrow"/>
              </a:rPr>
              <a:t>01 · FONTES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9601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3400" b="1" i="0">
                <a:solidFill>
                  <a:srgbClr val="17222E"/>
                </a:solidFill>
                <a:latin typeface="Arial Narrow"/>
              </a:rPr>
              <a:t>Duas bases oficiais, </a:t>
            </a:r>
            <a:r>
              <a:rPr sz="3400" b="1" i="0">
                <a:solidFill>
                  <a:srgbClr val="D95F02"/>
                </a:solidFill>
                <a:latin typeface="Arial Narrow"/>
              </a:rPr>
              <a:t>um município de cada vez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700" b="0" i="0">
                <a:solidFill>
                  <a:srgbClr val="17222E"/>
                </a:solidFill>
                <a:latin typeface="Georgia"/>
              </a:rPr>
              <a:t>Juntamos tudo por município (os 645 do estado), usando o código do IBGE como chave.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377440"/>
            <a:ext cx="5029200" cy="1554480"/>
          </a:xfrm>
          <a:prstGeom prst="roundRect">
            <a:avLst/>
          </a:prstGeom>
          <a:solidFill>
            <a:srgbClr val="DBE7F3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28016" bIns="128016"/>
          <a:lstStyle/>
          <a:p>
            <a:pPr algn="l">
              <a:spcBef>
                <a:spcPts val="0"/>
              </a:spcBef>
            </a:pPr>
            <a:r>
              <a:rPr sz="1200" b="1" i="0">
                <a:solidFill>
                  <a:srgbClr val="0B5394"/>
                </a:solidFill>
                <a:latin typeface="Arial Narrow"/>
              </a:rPr>
              <a:t>CRIMES</a:t>
            </a:r>
          </a:p>
          <a:p>
            <a:pPr algn="l">
              <a:spcBef>
                <a:spcPts val="400"/>
              </a:spcBef>
            </a:pPr>
            <a:r>
              <a:rPr sz="2000" b="1" i="0">
                <a:solidFill>
                  <a:srgbClr val="17222E"/>
                </a:solidFill>
                <a:latin typeface="Arial Narrow"/>
              </a:rPr>
              <a:t>SSP-SP · 2025</a:t>
            </a:r>
          </a:p>
          <a:p>
            <a:pPr algn="l">
              <a:spcBef>
                <a:spcPts val="400"/>
              </a:spcBef>
            </a:pPr>
            <a:r>
              <a:rPr sz="1400" b="0" i="0">
                <a:solidFill>
                  <a:srgbClr val="17222E"/>
                </a:solidFill>
                <a:latin typeface="Georgia"/>
              </a:rPr>
              <a:t>Boletins de roubo, furto e lesão corporal, mês a mês, por município.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2377440"/>
            <a:ext cx="5029200" cy="1554480"/>
          </a:xfrm>
          <a:prstGeom prst="roundRect">
            <a:avLst/>
          </a:prstGeom>
          <a:solidFill>
            <a:srgbClr val="DBE7F3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28016" bIns="128016"/>
          <a:lstStyle/>
          <a:p>
            <a:pPr algn="l">
              <a:spcBef>
                <a:spcPts val="0"/>
              </a:spcBef>
            </a:pPr>
            <a:r>
              <a:rPr sz="1200" b="1" i="0">
                <a:solidFill>
                  <a:srgbClr val="0B5394"/>
                </a:solidFill>
                <a:latin typeface="Arial Narrow"/>
              </a:rPr>
              <a:t>CONTEXTO</a:t>
            </a:r>
          </a:p>
          <a:p>
            <a:pPr algn="l">
              <a:spcBef>
                <a:spcPts val="400"/>
              </a:spcBef>
            </a:pPr>
            <a:r>
              <a:rPr sz="2000" b="1" i="0">
                <a:solidFill>
                  <a:srgbClr val="17222E"/>
                </a:solidFill>
                <a:latin typeface="Arial Narrow"/>
              </a:rPr>
              <a:t>IBGE · Censo 2022</a:t>
            </a:r>
          </a:p>
          <a:p>
            <a:pPr algn="l">
              <a:spcBef>
                <a:spcPts val="400"/>
              </a:spcBef>
            </a:pPr>
            <a:r>
              <a:rPr sz="1400" b="0" i="0">
                <a:solidFill>
                  <a:srgbClr val="17222E"/>
                </a:solidFill>
                <a:latin typeface="Georgia"/>
              </a:rPr>
              <a:t>Renda média, população residente e a malha de cada município.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206240"/>
            <a:ext cx="10424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0" i="0">
                <a:solidFill>
                  <a:srgbClr val="D95F02"/>
                </a:solidFill>
                <a:latin typeface="Arial Narrow"/>
              </a:rPr>
              <a:t>●  </a:t>
            </a:r>
            <a:r>
              <a:rPr sz="1500" b="0" i="0">
                <a:solidFill>
                  <a:srgbClr val="17222E"/>
                </a:solidFill>
                <a:latin typeface="Georgia"/>
              </a:rPr>
              <a:t>Trabalhamos com </a:t>
            </a:r>
            <a:r>
              <a:rPr sz="1500" b="1" i="0">
                <a:solidFill>
                  <a:srgbClr val="17222E"/>
                </a:solidFill>
                <a:latin typeface="Georgia"/>
              </a:rPr>
              <a:t>taxa por 1.000 habitantes</a:t>
            </a:r>
            <a:r>
              <a:rPr sz="1500" b="0" i="0">
                <a:solidFill>
                  <a:srgbClr val="17222E"/>
                </a:solidFill>
                <a:latin typeface="Georgia"/>
              </a:rPr>
              <a:t>, não com número bruto: senão São Paulo ganha só por ser gigante.</a:t>
            </a:r>
          </a:p>
          <a:p>
            <a:pPr algn="l">
              <a:spcBef>
                <a:spcPts val="1000"/>
              </a:spcBef>
            </a:pPr>
            <a:r>
              <a:rPr sz="1100" b="0" i="0">
                <a:solidFill>
                  <a:srgbClr val="D95F02"/>
                </a:solidFill>
                <a:latin typeface="Arial Narrow"/>
              </a:rPr>
              <a:t>●  </a:t>
            </a:r>
            <a:r>
              <a:rPr sz="1500" b="0" i="0">
                <a:solidFill>
                  <a:srgbClr val="17222E"/>
                </a:solidFill>
                <a:latin typeface="Georgia"/>
              </a:rPr>
              <a:t>Foco no </a:t>
            </a:r>
            <a:r>
              <a:rPr sz="1500" b="1" i="0">
                <a:solidFill>
                  <a:srgbClr val="17222E"/>
                </a:solidFill>
                <a:latin typeface="Georgia"/>
              </a:rPr>
              <a:t>furto</a:t>
            </a:r>
            <a:r>
              <a:rPr sz="1500" b="0" i="0">
                <a:solidFill>
                  <a:srgbClr val="17222E"/>
                </a:solidFill>
                <a:latin typeface="Georgia"/>
              </a:rPr>
              <a:t>, o crime com o padrão mais interessante no mapa.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 i="0">
                <a:solidFill>
                  <a:srgbClr val="D95F02"/>
                </a:solidFill>
                <a:latin typeface="Arial Narrow"/>
              </a:rPr>
              <a:t>O QUE A GENTE ACHAVA QUE IA ACHAR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749808"/>
            <a:ext cx="10515600" cy="15240"/>
          </a:xfrm>
          <a:prstGeom prst="rect">
            <a:avLst/>
          </a:prstGeom>
          <a:solidFill>
            <a:srgbClr val="D8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0" y="384048"/>
            <a:ext cx="1600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</a:pPr>
            <a:r>
              <a:rPr sz="1200" b="0" i="0">
                <a:solidFill>
                  <a:srgbClr val="5B6B7C"/>
                </a:solidFill>
                <a:latin typeface="Arial Narrow"/>
              </a:rPr>
              <a:t>02 · HIPÓTESES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9601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3400" b="1" i="0">
                <a:solidFill>
                  <a:srgbClr val="17222E"/>
                </a:solidFill>
                <a:latin typeface="Arial Narrow"/>
              </a:rPr>
              <a:t>Duas apostas </a:t>
            </a:r>
            <a:r>
              <a:rPr sz="3400" b="1" i="0">
                <a:solidFill>
                  <a:srgbClr val="D95F02"/>
                </a:solidFill>
                <a:latin typeface="Arial Narrow"/>
              </a:rPr>
              <a:t>bem diferentes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828800"/>
            <a:ext cx="5029200" cy="2194560"/>
          </a:xfrm>
          <a:prstGeom prst="roundRect">
            <a:avLst/>
          </a:prstGeom>
          <a:solidFill>
            <a:srgbClr val="DBE7F3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28016" bIns="128016"/>
          <a:lstStyle/>
          <a:p>
            <a:pPr algn="l">
              <a:spcBef>
                <a:spcPts val="0"/>
              </a:spcBef>
            </a:pPr>
            <a:r>
              <a:rPr sz="1200" b="1" i="0">
                <a:solidFill>
                  <a:srgbClr val="0B5394"/>
                </a:solidFill>
                <a:latin typeface="Arial Narrow"/>
              </a:rPr>
              <a:t>HIPÓTESE 1</a:t>
            </a:r>
          </a:p>
          <a:p>
            <a:pPr algn="l">
              <a:spcBef>
                <a:spcPts val="400"/>
              </a:spcBef>
            </a:pPr>
            <a:r>
              <a:rPr sz="2000" b="1" i="0">
                <a:solidFill>
                  <a:srgbClr val="17222E"/>
                </a:solidFill>
                <a:latin typeface="Arial Narrow"/>
              </a:rPr>
              <a:t>“Crime é coisa de cidade pobre”</a:t>
            </a:r>
          </a:p>
          <a:p>
            <a:pPr algn="l">
              <a:spcBef>
                <a:spcPts val="400"/>
              </a:spcBef>
            </a:pPr>
            <a:r>
              <a:rPr sz="1400" b="0" i="0">
                <a:solidFill>
                  <a:srgbClr val="17222E"/>
                </a:solidFill>
                <a:latin typeface="Georgia"/>
              </a:rPr>
              <a:t>A aposta clássica: quanto menor a renda, maior a taxa de crime.</a:t>
            </a:r>
          </a:p>
          <a:p>
            <a:pPr algn="l">
              <a:spcBef>
                <a:spcPts val="600"/>
              </a:spcBef>
            </a:pPr>
            <a:r>
              <a:rPr sz="1200" b="1" i="0">
                <a:solidFill>
                  <a:srgbClr val="D95F02"/>
                </a:solidFill>
                <a:latin typeface="Arial Narrow"/>
              </a:rPr>
              <a:t>NÃO COLOU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828800"/>
            <a:ext cx="5029200" cy="2194560"/>
          </a:xfrm>
          <a:prstGeom prst="roundRect">
            <a:avLst/>
          </a:prstGeom>
          <a:solidFill>
            <a:srgbClr val="FBE6D4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28016" bIns="128016"/>
          <a:lstStyle/>
          <a:p>
            <a:pPr algn="l">
              <a:spcBef>
                <a:spcPts val="0"/>
              </a:spcBef>
            </a:pPr>
            <a:r>
              <a:rPr sz="1200" b="1" i="0">
                <a:solidFill>
                  <a:srgbClr val="D95F02"/>
                </a:solidFill>
                <a:latin typeface="Arial Narrow"/>
              </a:rPr>
              <a:t>HIPÓTESE 2</a:t>
            </a:r>
          </a:p>
          <a:p>
            <a:pPr algn="l">
              <a:spcBef>
                <a:spcPts val="400"/>
              </a:spcBef>
            </a:pPr>
            <a:r>
              <a:rPr sz="2000" b="1" i="0">
                <a:solidFill>
                  <a:srgbClr val="17222E"/>
                </a:solidFill>
                <a:latin typeface="Arial Narrow"/>
              </a:rPr>
              <a:t>“Crime é coisa de cidade de praia”</a:t>
            </a:r>
          </a:p>
          <a:p>
            <a:pPr algn="l">
              <a:spcBef>
                <a:spcPts val="400"/>
              </a:spcBef>
            </a:pPr>
            <a:r>
              <a:rPr sz="1400" b="0" i="0">
                <a:solidFill>
                  <a:srgbClr val="17222E"/>
                </a:solidFill>
                <a:latin typeface="Georgia"/>
              </a:rPr>
              <a:t>No verão enche de turista, mas a conta divide pela população fixa. A taxa estoura.</a:t>
            </a:r>
          </a:p>
          <a:p>
            <a:pPr algn="l">
              <a:spcBef>
                <a:spcPts val="600"/>
              </a:spcBef>
            </a:pPr>
            <a:r>
              <a:rPr sz="1200" b="1" i="0">
                <a:solidFill>
                  <a:srgbClr val="0B5394"/>
                </a:solidFill>
                <a:latin typeface="Arial Narrow"/>
              </a:rPr>
              <a:t>FOI ESSA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29768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700" b="0" i="0">
                <a:solidFill>
                  <a:srgbClr val="17222E"/>
                </a:solidFill>
                <a:latin typeface="Georgia"/>
              </a:rPr>
              <a:t>Spoiler: a renda até tem relação com o furto, só que ao contrário do esperado. E a praia explicou muito mais do que a gente imaginava.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 i="0">
                <a:solidFill>
                  <a:srgbClr val="D95F02"/>
                </a:solidFill>
                <a:latin typeface="Arial Narrow"/>
              </a:rPr>
              <a:t>COMO A GENTE CHEGOU LÁ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749808"/>
            <a:ext cx="10515600" cy="15240"/>
          </a:xfrm>
          <a:prstGeom prst="rect">
            <a:avLst/>
          </a:prstGeom>
          <a:solidFill>
            <a:srgbClr val="D8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0" y="384048"/>
            <a:ext cx="1600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</a:pPr>
            <a:r>
              <a:rPr sz="1200" b="0" i="0">
                <a:solidFill>
                  <a:srgbClr val="5B6B7C"/>
                </a:solidFill>
                <a:latin typeface="Arial Narrow"/>
              </a:rPr>
              <a:t>03 · DESENVOLVIMENTO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9601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3400" b="1" i="0">
                <a:solidFill>
                  <a:srgbClr val="17222E"/>
                </a:solidFill>
                <a:latin typeface="Arial Narrow"/>
              </a:rPr>
              <a:t>Do tabelão </a:t>
            </a:r>
            <a:r>
              <a:rPr sz="3400" b="1" i="0">
                <a:solidFill>
                  <a:srgbClr val="D95F02"/>
                </a:solidFill>
                <a:latin typeface="Arial Narrow"/>
              </a:rPr>
              <a:t>ao mapa que se explica sozinho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10241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800" b="1" i="0">
                <a:solidFill>
                  <a:srgbClr val="D95F02"/>
                </a:solidFill>
                <a:latin typeface="Arial Narrow"/>
              </a:rPr>
              <a:t>1   </a:t>
            </a:r>
            <a:r>
              <a:rPr sz="1600" b="1" i="0">
                <a:solidFill>
                  <a:srgbClr val="17222E"/>
                </a:solidFill>
                <a:latin typeface="Georgia"/>
              </a:rPr>
              <a:t>Juntamos</a:t>
            </a:r>
            <a:r>
              <a:rPr sz="1600" b="0" i="0">
                <a:solidFill>
                  <a:srgbClr val="17222E"/>
                </a:solidFill>
                <a:latin typeface="Georgia"/>
              </a:rPr>
              <a:t> crime, renda e população num tabelão validado, um município por linha.</a:t>
            </a:r>
          </a:p>
          <a:p>
            <a:pPr algn="l">
              <a:spcBef>
                <a:spcPts val="1000"/>
              </a:spcBef>
            </a:pPr>
            <a:r>
              <a:rPr sz="1800" b="1" i="0">
                <a:solidFill>
                  <a:srgbClr val="D95F02"/>
                </a:solidFill>
                <a:latin typeface="Arial Narrow"/>
              </a:rPr>
              <a:t>2   </a:t>
            </a:r>
            <a:r>
              <a:rPr sz="1600" b="1" i="0">
                <a:solidFill>
                  <a:srgbClr val="17222E"/>
                </a:solidFill>
                <a:latin typeface="Georgia"/>
              </a:rPr>
              <a:t>Olhamos</a:t>
            </a:r>
            <a:r>
              <a:rPr sz="1600" b="0" i="0">
                <a:solidFill>
                  <a:srgbClr val="17222E"/>
                </a:solidFill>
                <a:latin typeface="Georgia"/>
              </a:rPr>
              <a:t> a correlação entre renda e os crimes (e levamos o primeiro susto).</a:t>
            </a:r>
          </a:p>
          <a:p>
            <a:pPr algn="l">
              <a:spcBef>
                <a:spcPts val="1000"/>
              </a:spcBef>
            </a:pPr>
            <a:r>
              <a:rPr sz="1800" b="1" i="0">
                <a:solidFill>
                  <a:srgbClr val="D95F02"/>
                </a:solidFill>
                <a:latin typeface="Arial Narrow"/>
              </a:rPr>
              <a:t>3   </a:t>
            </a:r>
            <a:r>
              <a:rPr sz="1600" b="1" i="0">
                <a:solidFill>
                  <a:srgbClr val="17222E"/>
                </a:solidFill>
                <a:latin typeface="Georgia"/>
              </a:rPr>
              <a:t>Fomos para o mapa:</a:t>
            </a:r>
            <a:r>
              <a:rPr sz="1600" b="0" i="0">
                <a:solidFill>
                  <a:srgbClr val="17222E"/>
                </a:solidFill>
                <a:latin typeface="Georgia"/>
              </a:rPr>
              <a:t> onde estão as taxas altas? Elas se agrupam? (Moran e LISA)</a:t>
            </a:r>
          </a:p>
          <a:p>
            <a:pPr algn="l">
              <a:spcBef>
                <a:spcPts val="1000"/>
              </a:spcBef>
            </a:pPr>
            <a:r>
              <a:rPr sz="1800" b="1" i="0">
                <a:solidFill>
                  <a:srgbClr val="D95F02"/>
                </a:solidFill>
                <a:latin typeface="Arial Narrow"/>
              </a:rPr>
              <a:t>4   </a:t>
            </a:r>
            <a:r>
              <a:rPr sz="1600" b="1" i="0">
                <a:solidFill>
                  <a:srgbClr val="17222E"/>
                </a:solidFill>
                <a:latin typeface="Georgia"/>
              </a:rPr>
              <a:t>Montamos modelos:</a:t>
            </a:r>
            <a:r>
              <a:rPr sz="1600" b="0" i="0">
                <a:solidFill>
                  <a:srgbClr val="17222E"/>
                </a:solidFill>
                <a:latin typeface="Georgia"/>
              </a:rPr>
              <a:t> da regressão simples até a espacial e a local (GWR).</a:t>
            </a:r>
          </a:p>
          <a:p>
            <a:pPr algn="l">
              <a:spcBef>
                <a:spcPts val="1000"/>
              </a:spcBef>
            </a:pPr>
            <a:r>
              <a:rPr sz="1800" b="1" i="0">
                <a:solidFill>
                  <a:srgbClr val="D95F02"/>
                </a:solidFill>
                <a:latin typeface="Arial Narrow"/>
              </a:rPr>
              <a:t>5   </a:t>
            </a:r>
            <a:r>
              <a:rPr sz="1600" b="1" i="0">
                <a:solidFill>
                  <a:srgbClr val="17222E"/>
                </a:solidFill>
                <a:latin typeface="Georgia"/>
              </a:rPr>
              <a:t>Fizemos um “e se?”:</a:t>
            </a:r>
            <a:r>
              <a:rPr sz="1600" b="0" i="0">
                <a:solidFill>
                  <a:srgbClr val="17222E"/>
                </a:solidFill>
                <a:latin typeface="Georgia"/>
              </a:rPr>
              <a:t> e se as cidades de praia não existissem no modelo?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pa_taxa_fur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5452110" cy="4846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92240" y="146304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7222E"/>
                </a:solidFill>
                <a:latin typeface="Arial Narrow"/>
              </a:rPr>
              <a:t>O litoral </a:t>
            </a:r>
            <a:r>
              <a:rPr sz="3000" b="1" i="0">
                <a:solidFill>
                  <a:srgbClr val="D95F02"/>
                </a:solidFill>
                <a:latin typeface="Arial Narrow"/>
              </a:rPr>
              <a:t>inteiro aceso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92240" y="2743200"/>
            <a:ext cx="49377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0" i="0">
                <a:solidFill>
                  <a:srgbClr val="D95F02"/>
                </a:solidFill>
                <a:latin typeface="Arial Narrow"/>
              </a:rPr>
              <a:t>●  </a:t>
            </a:r>
            <a:r>
              <a:rPr sz="1500" b="0" i="0">
                <a:solidFill>
                  <a:srgbClr val="17222E"/>
                </a:solidFill>
                <a:latin typeface="Georgia"/>
              </a:rPr>
              <a:t>A faixa da praia, de Ubatuba a Cananéia, salta no tom mais escuro.</a:t>
            </a:r>
          </a:p>
          <a:p>
            <a:pPr algn="l">
              <a:spcBef>
                <a:spcPts val="1200"/>
              </a:spcBef>
            </a:pPr>
            <a:r>
              <a:rPr sz="1100" b="0" i="0">
                <a:solidFill>
                  <a:srgbClr val="D95F02"/>
                </a:solidFill>
                <a:latin typeface="Arial Narrow"/>
              </a:rPr>
              <a:t>●  </a:t>
            </a:r>
            <a:r>
              <a:rPr sz="1500" b="0" i="0">
                <a:solidFill>
                  <a:srgbClr val="17222E"/>
                </a:solidFill>
                <a:latin typeface="Georgia"/>
              </a:rPr>
              <a:t>No topo do furto: </a:t>
            </a:r>
            <a:r>
              <a:rPr sz="1500" b="1" i="0">
                <a:solidFill>
                  <a:srgbClr val="17222E"/>
                </a:solidFill>
                <a:latin typeface="Georgia"/>
              </a:rPr>
              <a:t>Mongaguá (34/1.000)</a:t>
            </a:r>
            <a:r>
              <a:rPr sz="1500" b="0" i="0">
                <a:solidFill>
                  <a:srgbClr val="17222E"/>
                </a:solidFill>
                <a:latin typeface="Georgia"/>
              </a:rPr>
              <a:t>, Itanhaém, Ilha Comprida, Peruíbe. Quase tudo praia.</a:t>
            </a:r>
          </a:p>
          <a:p>
            <a:pPr algn="l">
              <a:spcBef>
                <a:spcPts val="1200"/>
              </a:spcBef>
            </a:pPr>
            <a:r>
              <a:rPr sz="1100" b="0" i="0">
                <a:solidFill>
                  <a:srgbClr val="D95F02"/>
                </a:solidFill>
                <a:latin typeface="Arial Narrow"/>
              </a:rPr>
              <a:t>●  </a:t>
            </a:r>
            <a:r>
              <a:rPr sz="1500" b="0" i="0">
                <a:solidFill>
                  <a:srgbClr val="17222E"/>
                </a:solidFill>
                <a:latin typeface="Georgia"/>
              </a:rPr>
              <a:t>O interior é bem mais claro, com bolsões escuros na macrometrópole.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 i="0">
                <a:solidFill>
                  <a:srgbClr val="D95F02"/>
                </a:solidFill>
                <a:latin typeface="Arial Narrow"/>
              </a:rPr>
              <a:t>DESCOBERTAS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749808"/>
            <a:ext cx="10515600" cy="15240"/>
          </a:xfrm>
          <a:prstGeom prst="rect">
            <a:avLst/>
          </a:prstGeom>
          <a:solidFill>
            <a:srgbClr val="D8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84080" y="384048"/>
            <a:ext cx="1600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</a:pPr>
            <a:r>
              <a:rPr sz="1200" b="0" i="0">
                <a:solidFill>
                  <a:srgbClr val="5B6B7C"/>
                </a:solidFill>
                <a:latin typeface="Arial Narrow"/>
              </a:rPr>
              <a:t>04 · O MAPA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spersoes_taxas_ren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7615646" cy="4846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92240" y="146304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7222E"/>
                </a:solidFill>
                <a:latin typeface="Arial Narrow"/>
              </a:rPr>
              <a:t>Renda maior, </a:t>
            </a:r>
            <a:r>
              <a:rPr sz="3000" b="1" i="0">
                <a:solidFill>
                  <a:srgbClr val="D95F02"/>
                </a:solidFill>
                <a:latin typeface="Arial Narrow"/>
              </a:rPr>
              <a:t>mais furto?!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92240" y="2743200"/>
            <a:ext cx="49377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0" i="0">
                <a:solidFill>
                  <a:srgbClr val="D95F02"/>
                </a:solidFill>
                <a:latin typeface="Arial Narrow"/>
              </a:rPr>
              <a:t>●  </a:t>
            </a:r>
            <a:r>
              <a:rPr sz="1500" b="0" i="0">
                <a:solidFill>
                  <a:srgbClr val="17222E"/>
                </a:solidFill>
                <a:latin typeface="Georgia"/>
              </a:rPr>
              <a:t>A relação entre renda e furto é </a:t>
            </a:r>
            <a:r>
              <a:rPr sz="1500" b="1" i="0">
                <a:solidFill>
                  <a:srgbClr val="17222E"/>
                </a:solidFill>
                <a:latin typeface="Georgia"/>
              </a:rPr>
              <a:t>positiva</a:t>
            </a:r>
            <a:r>
              <a:rPr sz="1500" b="0" i="0">
                <a:solidFill>
                  <a:srgbClr val="17222E"/>
                </a:solidFill>
                <a:latin typeface="Georgia"/>
              </a:rPr>
              <a:t>, não negativa.</a:t>
            </a:r>
          </a:p>
          <a:p>
            <a:pPr algn="l">
              <a:spcBef>
                <a:spcPts val="1200"/>
              </a:spcBef>
            </a:pPr>
            <a:r>
              <a:rPr sz="1100" b="0" i="0">
                <a:solidFill>
                  <a:srgbClr val="D95F02"/>
                </a:solidFill>
                <a:latin typeface="Arial Narrow"/>
              </a:rPr>
              <a:t>●  </a:t>
            </a:r>
            <a:r>
              <a:rPr sz="1500" b="0" i="0">
                <a:solidFill>
                  <a:srgbClr val="17222E"/>
                </a:solidFill>
                <a:latin typeface="Georgia"/>
              </a:rPr>
              <a:t>Isso já </a:t>
            </a:r>
            <a:r>
              <a:rPr sz="1500" b="1" i="0">
                <a:solidFill>
                  <a:srgbClr val="17222E"/>
                </a:solidFill>
                <a:latin typeface="Georgia"/>
              </a:rPr>
              <a:t>derruba a Hipótese 1</a:t>
            </a:r>
            <a:r>
              <a:rPr sz="1500" b="0" i="0">
                <a:solidFill>
                  <a:srgbClr val="17222E"/>
                </a:solidFill>
                <a:latin typeface="Georgia"/>
              </a:rPr>
              <a:t>: não é a pobreza que puxa o furto.</a:t>
            </a:r>
          </a:p>
          <a:p>
            <a:pPr algn="l">
              <a:spcBef>
                <a:spcPts val="1200"/>
              </a:spcBef>
            </a:pPr>
            <a:r>
              <a:rPr sz="1100" b="0" i="0">
                <a:solidFill>
                  <a:srgbClr val="D95F02"/>
                </a:solidFill>
                <a:latin typeface="Arial Narrow"/>
              </a:rPr>
              <a:t>●  </a:t>
            </a:r>
            <a:r>
              <a:rPr sz="1500" b="0" i="0">
                <a:solidFill>
                  <a:srgbClr val="17222E"/>
                </a:solidFill>
                <a:latin typeface="Georgia"/>
              </a:rPr>
              <a:t>Os pontos de praia ficam quase todos </a:t>
            </a:r>
            <a:r>
              <a:rPr sz="1500" b="1" i="0">
                <a:solidFill>
                  <a:srgbClr val="17222E"/>
                </a:solidFill>
                <a:latin typeface="Georgia"/>
              </a:rPr>
              <a:t>acima</a:t>
            </a:r>
            <a:r>
              <a:rPr sz="1500" b="0" i="0">
                <a:solidFill>
                  <a:srgbClr val="17222E"/>
                </a:solidFill>
                <a:latin typeface="Georgia"/>
              </a:rPr>
              <a:t> da reta.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 i="0">
                <a:solidFill>
                  <a:srgbClr val="D95F02"/>
                </a:solidFill>
                <a:latin typeface="Arial Narrow"/>
              </a:rPr>
              <a:t>DESCOBERTAS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749808"/>
            <a:ext cx="10515600" cy="15240"/>
          </a:xfrm>
          <a:prstGeom prst="rect">
            <a:avLst/>
          </a:prstGeom>
          <a:solidFill>
            <a:srgbClr val="D8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84080" y="384048"/>
            <a:ext cx="1600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</a:pPr>
            <a:r>
              <a:rPr sz="1200" b="0" i="0">
                <a:solidFill>
                  <a:srgbClr val="5B6B7C"/>
                </a:solidFill>
                <a:latin typeface="Arial Narrow"/>
              </a:rPr>
              <a:t>05 · O SUSTO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pa_lisa_fur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5452110" cy="4846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92240" y="146304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7222E"/>
                </a:solidFill>
                <a:latin typeface="Arial Narrow"/>
              </a:rPr>
              <a:t>Furto anda </a:t>
            </a:r>
            <a:r>
              <a:rPr sz="3000" b="1" i="0">
                <a:solidFill>
                  <a:srgbClr val="D95F02"/>
                </a:solidFill>
                <a:latin typeface="Arial Narrow"/>
              </a:rPr>
              <a:t>em bando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92240" y="2743200"/>
            <a:ext cx="49377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0" i="0">
                <a:solidFill>
                  <a:srgbClr val="D95F02"/>
                </a:solidFill>
                <a:latin typeface="Arial Narrow"/>
              </a:rPr>
              <a:t>●  </a:t>
            </a:r>
            <a:r>
              <a:rPr sz="1500" b="0" i="0">
                <a:solidFill>
                  <a:srgbClr val="17222E"/>
                </a:solidFill>
                <a:latin typeface="Georgia"/>
              </a:rPr>
              <a:t>Cidade com furto alto costuma ter </a:t>
            </a:r>
            <a:r>
              <a:rPr sz="1500" b="1" i="0">
                <a:solidFill>
                  <a:srgbClr val="17222E"/>
                </a:solidFill>
                <a:latin typeface="Georgia"/>
              </a:rPr>
              <a:t>vizinha também alta</a:t>
            </a:r>
            <a:r>
              <a:rPr sz="1500" b="0" i="0">
                <a:solidFill>
                  <a:srgbClr val="17222E"/>
                </a:solidFill>
                <a:latin typeface="Georgia"/>
              </a:rPr>
              <a:t> (Moran's I = 0,42).</a:t>
            </a:r>
          </a:p>
          <a:p>
            <a:pPr algn="l">
              <a:spcBef>
                <a:spcPts val="1200"/>
              </a:spcBef>
            </a:pPr>
            <a:r>
              <a:rPr sz="1100" b="0" i="0">
                <a:solidFill>
                  <a:srgbClr val="D95F02"/>
                </a:solidFill>
                <a:latin typeface="Arial Narrow"/>
              </a:rPr>
              <a:t>●  </a:t>
            </a:r>
            <a:r>
              <a:rPr sz="1500" b="0" i="0">
                <a:solidFill>
                  <a:srgbClr val="17222E"/>
                </a:solidFill>
                <a:latin typeface="Georgia"/>
              </a:rPr>
              <a:t>Os agrupamentos vermelhos acompanham </a:t>
            </a:r>
            <a:r>
              <a:rPr sz="1500" b="1" i="0">
                <a:solidFill>
                  <a:srgbClr val="17222E"/>
                </a:solidFill>
                <a:latin typeface="Georgia"/>
              </a:rPr>
              <a:t>o litoral</a:t>
            </a:r>
            <a:r>
              <a:rPr sz="1500" b="0" i="0">
                <a:solidFill>
                  <a:srgbClr val="17222E"/>
                </a:solidFill>
                <a:latin typeface="Georgia"/>
              </a:rPr>
              <a:t> e a região metropolitana.</a:t>
            </a:r>
          </a:p>
          <a:p>
            <a:pPr algn="l">
              <a:spcBef>
                <a:spcPts val="1200"/>
              </a:spcBef>
            </a:pPr>
            <a:r>
              <a:rPr sz="1100" b="0" i="0">
                <a:solidFill>
                  <a:srgbClr val="D95F02"/>
                </a:solidFill>
                <a:latin typeface="Arial Narrow"/>
              </a:rPr>
              <a:t>●  </a:t>
            </a:r>
            <a:r>
              <a:rPr sz="1500" b="0" i="0">
                <a:solidFill>
                  <a:srgbClr val="17222E"/>
                </a:solidFill>
                <a:latin typeface="Georgia"/>
              </a:rPr>
              <a:t>Ou seja: o crime tem </a:t>
            </a:r>
            <a:r>
              <a:rPr sz="1500" b="1" i="0">
                <a:solidFill>
                  <a:srgbClr val="17222E"/>
                </a:solidFill>
                <a:latin typeface="Georgia"/>
              </a:rPr>
              <a:t>geografia</a:t>
            </a:r>
            <a:r>
              <a:rPr sz="1500" b="0" i="0">
                <a:solidFill>
                  <a:srgbClr val="17222E"/>
                </a:solidFill>
                <a:latin typeface="Georgia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 i="0">
                <a:solidFill>
                  <a:srgbClr val="D95F02"/>
                </a:solidFill>
                <a:latin typeface="Arial Narrow"/>
              </a:rPr>
              <a:t>DESCOBERTAS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749808"/>
            <a:ext cx="10515600" cy="15240"/>
          </a:xfrm>
          <a:prstGeom prst="rect">
            <a:avLst/>
          </a:prstGeom>
          <a:solidFill>
            <a:srgbClr val="D8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84080" y="384048"/>
            <a:ext cx="1600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</a:pPr>
            <a:r>
              <a:rPr sz="1200" b="0" i="0">
                <a:solidFill>
                  <a:srgbClr val="5B6B7C"/>
                </a:solidFill>
                <a:latin typeface="Arial Narrow"/>
              </a:rPr>
              <a:t>06 · VIZINHANÇA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 i="0">
                <a:solidFill>
                  <a:srgbClr val="D95F02"/>
                </a:solidFill>
                <a:latin typeface="Arial Narrow"/>
              </a:rPr>
              <a:t>RESULTADO DO MODELO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749808"/>
            <a:ext cx="10515600" cy="15240"/>
          </a:xfrm>
          <a:prstGeom prst="rect">
            <a:avLst/>
          </a:prstGeom>
          <a:solidFill>
            <a:srgbClr val="D8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0" y="384048"/>
            <a:ext cx="1600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</a:pPr>
            <a:r>
              <a:rPr sz="1200" b="0" i="0">
                <a:solidFill>
                  <a:srgbClr val="5B6B7C"/>
                </a:solidFill>
                <a:latin typeface="Arial Narrow"/>
              </a:rPr>
              <a:t>07 · ACURÁCIA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2800" b="1" i="0">
                <a:solidFill>
                  <a:srgbClr val="17222E"/>
                </a:solidFill>
                <a:latin typeface="Arial Narrow"/>
              </a:rPr>
              <a:t>Quanto mais território, </a:t>
            </a:r>
            <a:r>
              <a:rPr sz="2800" b="1" i="0">
                <a:solidFill>
                  <a:srgbClr val="D95F02"/>
                </a:solidFill>
                <a:latin typeface="Arial Narrow"/>
              </a:rPr>
              <a:t>melhor o modelo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2377440"/>
          <a:ext cx="51206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146304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 Narrow"/>
                        </a:rPr>
                        <a:t>Modelo</a:t>
                      </a:r>
                    </a:p>
                  </a:txBody>
                  <a:tcPr>
                    <a:solidFill>
                      <a:srgbClr val="0B539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 Narrow"/>
                        </a:rPr>
                        <a:t>Acerto (R²)</a:t>
                      </a:r>
                    </a:p>
                  </a:txBody>
                  <a:tcPr>
                    <a:solidFill>
                      <a:srgbClr val="0B539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17222E"/>
                          </a:solidFill>
                          <a:latin typeface="Georgia"/>
                        </a:rPr>
                        <a:t>Só a renda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7222E"/>
                          </a:solidFill>
                          <a:latin typeface="Georgia"/>
                        </a:rPr>
                        <a:t>13%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17222E"/>
                          </a:solidFill>
                          <a:latin typeface="Georgia"/>
                        </a:rPr>
                        <a:t>Renda + praia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7222E"/>
                          </a:solidFill>
                          <a:latin typeface="Georgia"/>
                        </a:rPr>
                        <a:t>36%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17222E"/>
                          </a:solidFill>
                          <a:latin typeface="Georgia"/>
                        </a:rPr>
                        <a:t>+ efeito espacial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7222E"/>
                          </a:solidFill>
                          <a:latin typeface="Georgia"/>
                        </a:rPr>
                        <a:t>44%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17222E"/>
                          </a:solidFill>
                          <a:latin typeface="Georgia"/>
                        </a:rPr>
                        <a:t>Modelo local (GWR)</a:t>
                      </a:r>
                    </a:p>
                  </a:txBody>
                  <a:tcPr>
                    <a:solidFill>
                      <a:srgbClr val="DBE7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 i="0">
                          <a:solidFill>
                            <a:srgbClr val="17222E"/>
                          </a:solidFill>
                          <a:latin typeface="Georgia"/>
                        </a:rPr>
                        <a:t>53%</a:t>
                      </a:r>
                    </a:p>
                  </a:txBody>
                  <a:tcPr>
                    <a:solidFill>
                      <a:srgbClr val="DBE7F3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22960" y="4389120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 i="0">
                <a:solidFill>
                  <a:srgbClr val="D95F02"/>
                </a:solidFill>
                <a:latin typeface="Arial Narrow"/>
              </a:rPr>
              <a:t>●  </a:t>
            </a:r>
            <a:r>
              <a:rPr sz="1400" b="0" i="0">
                <a:solidFill>
                  <a:srgbClr val="17222E"/>
                </a:solidFill>
                <a:latin typeface="Georgia"/>
              </a:rPr>
              <a:t>Botar a variável “praia” é o </a:t>
            </a:r>
            <a:r>
              <a:rPr sz="1400" b="1" i="0">
                <a:solidFill>
                  <a:srgbClr val="17222E"/>
                </a:solidFill>
                <a:latin typeface="Georgia"/>
              </a:rPr>
              <a:t>maior salto</a:t>
            </a:r>
            <a:r>
              <a:rPr sz="1400" b="0" i="0">
                <a:solidFill>
                  <a:srgbClr val="17222E"/>
                </a:solidFill>
                <a:latin typeface="Georgia"/>
              </a:rPr>
              <a:t> (quase o triplo).</a:t>
            </a:r>
          </a:p>
          <a:p>
            <a:pPr algn="l">
              <a:spcBef>
                <a:spcPts val="800"/>
              </a:spcBef>
            </a:pPr>
            <a:r>
              <a:rPr sz="1000" b="0" i="0">
                <a:solidFill>
                  <a:srgbClr val="D95F02"/>
                </a:solidFill>
                <a:latin typeface="Arial Narrow"/>
              </a:rPr>
              <a:t>●  </a:t>
            </a:r>
            <a:r>
              <a:rPr sz="1400" b="0" i="0">
                <a:solidFill>
                  <a:srgbClr val="17222E"/>
                </a:solidFill>
                <a:latin typeface="Georgia"/>
              </a:rPr>
              <a:t>O </a:t>
            </a:r>
            <a:r>
              <a:rPr sz="1400" b="1" i="0">
                <a:solidFill>
                  <a:srgbClr val="17222E"/>
                </a:solidFill>
                <a:latin typeface="Georgia"/>
              </a:rPr>
              <a:t>GWR</a:t>
            </a:r>
            <a:r>
              <a:rPr sz="1400" b="0" i="0">
                <a:solidFill>
                  <a:srgbClr val="17222E"/>
                </a:solidFill>
                <a:latin typeface="Georgia"/>
              </a:rPr>
              <a:t>, que deixa a regra mudar de lugar, é o campeão.</a:t>
            </a:r>
          </a:p>
        </p:txBody>
      </p:sp>
      <p:pic>
        <p:nvPicPr>
          <p:cNvPr id="8" name="Picture 7" descr="gwr_lit_r2_loc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371600"/>
            <a:ext cx="534924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gwr_contrafactual_di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5452110" cy="4846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92240" y="146304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7222E"/>
                </a:solidFill>
                <a:latin typeface="Arial Narrow"/>
              </a:rPr>
              <a:t>Desligando a praia, </a:t>
            </a:r>
            <a:r>
              <a:rPr sz="3000" b="1" i="0">
                <a:solidFill>
                  <a:srgbClr val="D95F02"/>
                </a:solidFill>
                <a:latin typeface="Arial Narrow"/>
              </a:rPr>
              <a:t>o litoral apaga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92240" y="2743200"/>
            <a:ext cx="49377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0" i="0">
                <a:solidFill>
                  <a:srgbClr val="D95F02"/>
                </a:solidFill>
                <a:latin typeface="Arial Narrow"/>
              </a:rPr>
              <a:t>●  </a:t>
            </a:r>
            <a:r>
              <a:rPr sz="1500" b="0" i="0">
                <a:solidFill>
                  <a:srgbClr val="17222E"/>
                </a:solidFill>
                <a:latin typeface="Georgia"/>
              </a:rPr>
              <a:t>Cenário “e se essas cidades não fossem de praia?”.</a:t>
            </a:r>
          </a:p>
          <a:p>
            <a:pPr algn="l">
              <a:spcBef>
                <a:spcPts val="1200"/>
              </a:spcBef>
            </a:pPr>
            <a:r>
              <a:rPr sz="1100" b="0" i="0">
                <a:solidFill>
                  <a:srgbClr val="D95F02"/>
                </a:solidFill>
                <a:latin typeface="Arial Narrow"/>
              </a:rPr>
              <a:t>●  </a:t>
            </a:r>
            <a:r>
              <a:rPr sz="1500" b="0" i="0">
                <a:solidFill>
                  <a:srgbClr val="17222E"/>
                </a:solidFill>
                <a:latin typeface="Georgia"/>
              </a:rPr>
              <a:t>Some um extra de </a:t>
            </a:r>
            <a:r>
              <a:rPr sz="1500" b="1" i="0">
                <a:solidFill>
                  <a:srgbClr val="17222E"/>
                </a:solidFill>
                <a:latin typeface="Georgia"/>
              </a:rPr>
              <a:t>até 12 furtos por 1.000 hab.</a:t>
            </a:r>
            <a:r>
              <a:rPr sz="1500" b="0" i="0">
                <a:solidFill>
                  <a:srgbClr val="17222E"/>
                </a:solidFill>
                <a:latin typeface="Georgia"/>
              </a:rPr>
              <a:t>, tudo na costa.</a:t>
            </a:r>
          </a:p>
          <a:p>
            <a:pPr algn="l">
              <a:spcBef>
                <a:spcPts val="1200"/>
              </a:spcBef>
            </a:pPr>
            <a:r>
              <a:rPr sz="1100" b="0" i="0">
                <a:solidFill>
                  <a:srgbClr val="D95F02"/>
                </a:solidFill>
                <a:latin typeface="Arial Narrow"/>
              </a:rPr>
              <a:t>●  </a:t>
            </a:r>
            <a:r>
              <a:rPr sz="1500" b="0" i="0">
                <a:solidFill>
                  <a:srgbClr val="17222E"/>
                </a:solidFill>
                <a:latin typeface="Georgia"/>
              </a:rPr>
              <a:t>É a população flutuante: o turista entra na ocorrência, mas </a:t>
            </a:r>
            <a:r>
              <a:rPr sz="1500" b="1" i="0">
                <a:solidFill>
                  <a:srgbClr val="17222E"/>
                </a:solidFill>
                <a:latin typeface="Georgia"/>
              </a:rPr>
              <a:t>não na conta de habitantes</a:t>
            </a:r>
            <a:r>
              <a:rPr sz="1500" b="0" i="0">
                <a:solidFill>
                  <a:srgbClr val="17222E"/>
                </a:solidFill>
                <a:latin typeface="Georgia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 i="0">
                <a:solidFill>
                  <a:srgbClr val="D95F02"/>
                </a:solidFill>
                <a:latin typeface="Arial Narrow"/>
              </a:rPr>
              <a:t>RESULTADO DO MODELO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749808"/>
            <a:ext cx="10515600" cy="15240"/>
          </a:xfrm>
          <a:prstGeom prst="rect">
            <a:avLst/>
          </a:prstGeom>
          <a:solidFill>
            <a:srgbClr val="D8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84080" y="384048"/>
            <a:ext cx="1600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</a:pPr>
            <a:r>
              <a:rPr sz="1200" b="0" i="0">
                <a:solidFill>
                  <a:srgbClr val="5B6B7C"/>
                </a:solidFill>
                <a:latin typeface="Arial Narrow"/>
              </a:rPr>
              <a:t>08 · E SE?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 i="0">
                <a:solidFill>
                  <a:srgbClr val="D95F02"/>
                </a:solidFill>
                <a:latin typeface="Arial Narrow"/>
              </a:rPr>
              <a:t>CURIOSIDADES DOS DADOS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749808"/>
            <a:ext cx="10515600" cy="15240"/>
          </a:xfrm>
          <a:prstGeom prst="rect">
            <a:avLst/>
          </a:prstGeom>
          <a:solidFill>
            <a:srgbClr val="D8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0" y="384048"/>
            <a:ext cx="1600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</a:pPr>
            <a:r>
              <a:rPr sz="1200" b="0" i="0">
                <a:solidFill>
                  <a:srgbClr val="5B6B7C"/>
                </a:solidFill>
                <a:latin typeface="Arial Narrow"/>
              </a:rPr>
              <a:t>09 · PÉROLAS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9601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3400" b="1" i="0">
                <a:solidFill>
                  <a:srgbClr val="17222E"/>
                </a:solidFill>
                <a:latin typeface="Arial Narrow"/>
              </a:rPr>
              <a:t>Coisas que </a:t>
            </a:r>
            <a:r>
              <a:rPr sz="3400" b="1" i="0">
                <a:solidFill>
                  <a:srgbClr val="D95F02"/>
                </a:solidFill>
                <a:latin typeface="Arial Narrow"/>
              </a:rPr>
              <a:t>chamaram atenção</a:t>
            </a:r>
          </a:p>
        </p:txBody>
      </p:sp>
      <p:pic>
        <p:nvPicPr>
          <p:cNvPr id="6" name="Picture 5" descr="litoral_regime_global_loc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554480"/>
            <a:ext cx="6583680" cy="43891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1828800"/>
            <a:ext cx="5212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0" i="0">
                <a:solidFill>
                  <a:srgbClr val="D95F02"/>
                </a:solidFill>
                <a:latin typeface="Arial Narrow"/>
              </a:rPr>
              <a:t>●  </a:t>
            </a:r>
            <a:r>
              <a:rPr sz="1500" b="1" i="0">
                <a:solidFill>
                  <a:srgbClr val="17222E"/>
                </a:solidFill>
                <a:latin typeface="Georgia"/>
              </a:rPr>
              <a:t>No litoral, a renda não importa.</a:t>
            </a:r>
            <a:r>
              <a:rPr sz="1500" b="0" i="0">
                <a:solidFill>
                  <a:srgbClr val="17222E"/>
                </a:solidFill>
                <a:latin typeface="Georgia"/>
              </a:rPr>
              <a:t> Um modelo só das praias acerta 0,8%: lá manda o turismo.</a:t>
            </a:r>
          </a:p>
          <a:p>
            <a:pPr algn="l">
              <a:spcBef>
                <a:spcPts val="1400"/>
              </a:spcBef>
            </a:pPr>
            <a:r>
              <a:rPr sz="1100" b="0" i="0">
                <a:solidFill>
                  <a:srgbClr val="D95F02"/>
                </a:solidFill>
                <a:latin typeface="Arial Narrow"/>
              </a:rPr>
              <a:t>●  </a:t>
            </a:r>
            <a:r>
              <a:rPr sz="1500" b="1" i="0">
                <a:solidFill>
                  <a:srgbClr val="17222E"/>
                </a:solidFill>
                <a:latin typeface="Georgia"/>
              </a:rPr>
              <a:t>Mongaguá</a:t>
            </a:r>
            <a:r>
              <a:rPr sz="1500" b="0" i="0">
                <a:solidFill>
                  <a:srgbClr val="17222E"/>
                </a:solidFill>
                <a:latin typeface="Georgia"/>
              </a:rPr>
              <a:t> tem 34 furtos/1.000 hab., o dobro da capital.</a:t>
            </a:r>
          </a:p>
          <a:p>
            <a:pPr algn="l">
              <a:spcBef>
                <a:spcPts val="1400"/>
              </a:spcBef>
            </a:pPr>
            <a:r>
              <a:rPr sz="1100" b="0" i="0">
                <a:solidFill>
                  <a:srgbClr val="D95F02"/>
                </a:solidFill>
                <a:latin typeface="Arial Narrow"/>
              </a:rPr>
              <a:t>●  </a:t>
            </a:r>
            <a:r>
              <a:rPr sz="1500" b="1" i="0">
                <a:solidFill>
                  <a:srgbClr val="17222E"/>
                </a:solidFill>
                <a:latin typeface="Georgia"/>
              </a:rPr>
              <a:t>Ilhabela</a:t>
            </a:r>
            <a:r>
              <a:rPr sz="1500" b="0" i="0">
                <a:solidFill>
                  <a:srgbClr val="17222E"/>
                </a:solidFill>
                <a:latin typeface="Georgia"/>
              </a:rPr>
              <a:t> é ilha e ficou “sem vizinhos” no mapa, entra com asterisco.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 i="0">
                <a:solidFill>
                  <a:srgbClr val="D95F02"/>
                </a:solidFill>
                <a:latin typeface="Arial Narrow"/>
              </a:rPr>
              <a:t>CONCLUSÃO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749808"/>
            <a:ext cx="10515600" cy="15240"/>
          </a:xfrm>
          <a:prstGeom prst="rect">
            <a:avLst/>
          </a:prstGeom>
          <a:solidFill>
            <a:srgbClr val="D8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0" y="384048"/>
            <a:ext cx="1600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</a:pPr>
            <a:r>
              <a:rPr sz="1200" b="0" i="0">
                <a:solidFill>
                  <a:srgbClr val="5B6B7C"/>
                </a:solidFill>
                <a:latin typeface="Arial Narrow"/>
              </a:rPr>
              <a:t>10 · FECHO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9601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3400" b="1" i="0">
                <a:solidFill>
                  <a:srgbClr val="17222E"/>
                </a:solidFill>
                <a:latin typeface="Arial Narrow"/>
              </a:rPr>
              <a:t>Não é sobre ser pobre, </a:t>
            </a:r>
            <a:r>
              <a:rPr sz="3400" b="1" i="0">
                <a:solidFill>
                  <a:srgbClr val="D95F02"/>
                </a:solidFill>
                <a:latin typeface="Arial Narrow"/>
              </a:rPr>
              <a:t>é sobre ser praia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783080"/>
            <a:ext cx="5029200" cy="1554480"/>
          </a:xfrm>
          <a:prstGeom prst="roundRect">
            <a:avLst/>
          </a:prstGeom>
          <a:solidFill>
            <a:srgbClr val="FBE6D4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28016" bIns="128016"/>
          <a:lstStyle/>
          <a:p>
            <a:pPr algn="l">
              <a:spcBef>
                <a:spcPts val="0"/>
              </a:spcBef>
            </a:pPr>
            <a:r>
              <a:rPr sz="1200" b="1" i="0">
                <a:solidFill>
                  <a:srgbClr val="D95F02"/>
                </a:solidFill>
                <a:latin typeface="Arial Narrow"/>
              </a:rPr>
              <a:t>O QUE FICOU</a:t>
            </a:r>
          </a:p>
          <a:p>
            <a:pPr algn="l">
              <a:spcBef>
                <a:spcPts val="400"/>
              </a:spcBef>
            </a:pPr>
            <a:r>
              <a:rPr sz="2000" b="1" i="0">
                <a:solidFill>
                  <a:srgbClr val="17222E"/>
                </a:solidFill>
                <a:latin typeface="Arial Narrow"/>
              </a:rPr>
              <a:t>Território &gt; renda</a:t>
            </a:r>
          </a:p>
          <a:p>
            <a:pPr algn="l">
              <a:spcBef>
                <a:spcPts val="400"/>
              </a:spcBef>
            </a:pPr>
            <a:r>
              <a:rPr sz="1400" b="0" i="0">
                <a:solidFill>
                  <a:srgbClr val="17222E"/>
                </a:solidFill>
                <a:latin typeface="Georgia"/>
              </a:rPr>
              <a:t>A taxa de furto responde mais a onde a cidade está do que a quanto ela ganha.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783080"/>
            <a:ext cx="5029200" cy="1554480"/>
          </a:xfrm>
          <a:prstGeom prst="roundRect">
            <a:avLst/>
          </a:prstGeom>
          <a:solidFill>
            <a:srgbClr val="DBE7F3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28016" bIns="128016"/>
          <a:lstStyle/>
          <a:p>
            <a:pPr algn="l">
              <a:spcBef>
                <a:spcPts val="0"/>
              </a:spcBef>
            </a:pPr>
            <a:r>
              <a:rPr sz="1200" b="1" i="0">
                <a:solidFill>
                  <a:srgbClr val="0B5394"/>
                </a:solidFill>
                <a:latin typeface="Arial Narrow"/>
              </a:rPr>
              <a:t>O PORQUÊ</a:t>
            </a:r>
          </a:p>
          <a:p>
            <a:pPr algn="l">
              <a:spcBef>
                <a:spcPts val="400"/>
              </a:spcBef>
            </a:pPr>
            <a:r>
              <a:rPr sz="2000" b="1" i="0">
                <a:solidFill>
                  <a:srgbClr val="17222E"/>
                </a:solidFill>
                <a:latin typeface="Arial Narrow"/>
              </a:rPr>
              <a:t>População flutuante</a:t>
            </a:r>
          </a:p>
          <a:p>
            <a:pPr algn="l">
              <a:spcBef>
                <a:spcPts val="400"/>
              </a:spcBef>
            </a:pPr>
            <a:r>
              <a:rPr sz="1400" b="0" i="0">
                <a:solidFill>
                  <a:srgbClr val="17222E"/>
                </a:solidFill>
                <a:latin typeface="Georgia"/>
              </a:rPr>
              <a:t>Cidade de praia incha no verão, mas a taxa divide pela população fixa.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657600"/>
            <a:ext cx="104241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0" i="0">
                <a:solidFill>
                  <a:srgbClr val="D95F02"/>
                </a:solidFill>
                <a:latin typeface="Arial Narrow"/>
              </a:rPr>
              <a:t>●  </a:t>
            </a:r>
            <a:r>
              <a:rPr sz="1500" b="0" i="0">
                <a:solidFill>
                  <a:srgbClr val="17222E"/>
                </a:solidFill>
                <a:latin typeface="Georgia"/>
              </a:rPr>
              <a:t>Hipótese 1 (pobreza) </a:t>
            </a:r>
            <a:r>
              <a:rPr sz="1500" b="1" i="0">
                <a:solidFill>
                  <a:srgbClr val="17222E"/>
                </a:solidFill>
                <a:latin typeface="Georgia"/>
              </a:rPr>
              <a:t>não</a:t>
            </a:r>
            <a:r>
              <a:rPr sz="1500" b="0" i="0">
                <a:solidFill>
                  <a:srgbClr val="17222E"/>
                </a:solidFill>
                <a:latin typeface="Georgia"/>
              </a:rPr>
              <a:t> se sustentou; Hipótese 2 (praia) </a:t>
            </a:r>
            <a:r>
              <a:rPr sz="1500" b="1" i="0">
                <a:solidFill>
                  <a:srgbClr val="17222E"/>
                </a:solidFill>
                <a:latin typeface="Georgia"/>
              </a:rPr>
              <a:t>sim</a:t>
            </a:r>
            <a:r>
              <a:rPr sz="1500" b="0" i="0">
                <a:solidFill>
                  <a:srgbClr val="17222E"/>
                </a:solidFill>
                <a:latin typeface="Georgia"/>
              </a:rPr>
              <a:t>.</a:t>
            </a:r>
          </a:p>
          <a:p>
            <a:pPr algn="l">
              <a:spcBef>
                <a:spcPts val="1100"/>
              </a:spcBef>
            </a:pPr>
            <a:r>
              <a:rPr sz="1100" b="0" i="0">
                <a:solidFill>
                  <a:srgbClr val="D95F02"/>
                </a:solidFill>
                <a:latin typeface="Arial Narrow"/>
              </a:rPr>
              <a:t>●  </a:t>
            </a:r>
            <a:r>
              <a:rPr sz="1500" b="0" i="0">
                <a:solidFill>
                  <a:srgbClr val="17222E"/>
                </a:solidFill>
                <a:latin typeface="Georgia"/>
              </a:rPr>
              <a:t>O litoral é praticamente um </a:t>
            </a:r>
            <a:r>
              <a:rPr sz="1500" b="1" i="0">
                <a:solidFill>
                  <a:srgbClr val="17222E"/>
                </a:solidFill>
                <a:latin typeface="Georgia"/>
              </a:rPr>
              <a:t>mundo à parte</a:t>
            </a:r>
            <a:r>
              <a:rPr sz="1500" b="0" i="0">
                <a:solidFill>
                  <a:srgbClr val="17222E"/>
                </a:solidFill>
                <a:latin typeface="Georgia"/>
              </a:rPr>
              <a:t>, e modelos que enxergam a geografia acertam mais.</a:t>
            </a:r>
          </a:p>
          <a:p>
            <a:pPr algn="l">
              <a:spcBef>
                <a:spcPts val="1100"/>
              </a:spcBef>
            </a:pPr>
            <a:r>
              <a:rPr sz="1100" b="0" i="0">
                <a:solidFill>
                  <a:srgbClr val="D95F02"/>
                </a:solidFill>
                <a:latin typeface="Arial Narrow"/>
              </a:rPr>
              <a:t>●  </a:t>
            </a:r>
            <a:r>
              <a:rPr sz="1500" b="0" i="0">
                <a:solidFill>
                  <a:srgbClr val="17222E"/>
                </a:solidFill>
                <a:latin typeface="Georgia"/>
              </a:rPr>
              <a:t>Alerta de método: </a:t>
            </a:r>
            <a:r>
              <a:rPr sz="1500" b="1" i="0">
                <a:solidFill>
                  <a:srgbClr val="17222E"/>
                </a:solidFill>
                <a:latin typeface="Georgia"/>
              </a:rPr>
              <a:t>medir por população residente engana</a:t>
            </a:r>
            <a:r>
              <a:rPr sz="1500" b="0" i="0">
                <a:solidFill>
                  <a:srgbClr val="17222E"/>
                </a:solidFill>
                <a:latin typeface="Georgia"/>
              </a:rPr>
              <a:t> em lugar turístico.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