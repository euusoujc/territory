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95959"/>
                </a:solidFill>
                <a:latin typeface="Calibri"/>
              </a:rPr>
              <a:t>ANÁLISE DE DADOS PARA PLANEJAMENTO TERRITORIAL • UFABC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1F4E79"/>
                </a:solidFill>
                <a:latin typeface="Calibri"/>
              </a:rPr>
              <a:t>Furto, Renda e Território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333333"/>
                </a:solidFill>
                <a:latin typeface="Calibri"/>
              </a:rPr>
              <a:t>Uma análise espacial da criminalidade patrimonial nos municípios de São Paulo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Equipe: João Vitor Oliveira, Julio Cesar Salvino, Lucas Amorim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Orientação: Prof.ª Flávia da Fonseca Feitosa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HIPÓTESE E 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Motivação: a pergunta que originou o trabalho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126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"Acontecem mais crimes nas</a:t>
            </a:r>
          </a:p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cidades mais pobres?"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6126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4E79"/>
                </a:solidFill>
                <a:latin typeface="Calibri"/>
              </a:rPr>
              <a:t>Hipótese inicial (H1): cidades mais pobres registram mais crimes patrimoniais.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6126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—  Ocorrências criminais — SSP-SP, 2025 (roubo, furto e lesão corporal).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—  Renda média per capita — Censo IBGE 2022.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—  645 municípios — todo o estado de São Paulo.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6126480" cy="123444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>
                <a:solidFill>
                  <a:srgbClr val="663300"/>
                </a:solidFill>
                <a:latin typeface="Calibri"/>
              </a:rPr>
              <a:t>Observação inicial: a taxa de furto (por 1.000 hab.) mostra concentração aparente na macrometrópole e no litoral — não no interior mais pobre.</a:t>
            </a:r>
          </a:p>
        </p:txBody>
      </p:sp>
      <p:pic>
        <p:nvPicPr>
          <p:cNvPr id="9" name="Picture 8" descr="mapa_taxa_fur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40560"/>
            <a:ext cx="4480560" cy="3982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DADOS E VARIÁVEIS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Dados e variáveis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5760720"/>
              </a:tblGrid>
              <a:tr h="47026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Variável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Descrição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Taxa de roubo (art. 157)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SSP-SP,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Ocorrências / 1.000 hab.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Taxa de furto (art. 155)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SSP-SP, 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Ocorrências / 1.000 hab. — variável dependente principal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Taxa de lesão corporal (art. 129)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SSP-SP,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Ocorrências / 1.000 hab.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Renda média per capita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IBGE, Censo 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por habitante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População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IBGE, Tabela 4709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Denominador das taxas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Litorâneo / turístico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Classificação do grupo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Dummy (1/0) — 16 municípios da costa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—  Chave de junção: código IBGE de 7 dígitos — nunca o nome (a SSP abrevia, ex. "S BARBARA D OESTE"), o que perderia observações na junção.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DADOS E VARIÁVEIS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Por que o furto: cada crime tem seus outliers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98" y="1554480"/>
            <a:ext cx="9231923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920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Roubo: o outlier mais extremo é de um município não-litorâneo; os litorâneos (laranja) aparecem elevados, mas não dominam o topo.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Furto: os outliers extremos são quase todos litorâneos — Mongaguá e outros municípios da costa aparecem bem acima da nuvem geral de pontos.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Lesão corporal: o outlier extremo é de renda baixíssima e não-litorâneo; os litorâneos ficam perdidos no meio da distribuição.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DADOS E VARIÁVEIS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A renda correlaciona positivamente com o furto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</a:tblGrid>
              <a:tr h="4343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Pearson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Spearman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Roubo × Renda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0,302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0,389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Furto × Renda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0,359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0,380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Lesão corporal × Renda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−0,190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−0,166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33333"/>
                </a:solidFill>
                <a:latin typeface="Calibri"/>
              </a:rPr>
              <a:t>Roubo e furto sobem junto com a renda — o oposto do que H1 previa. Só a lesão corporal cai, e fraco.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i="1">
                <a:solidFill>
                  <a:srgbClr val="595959"/>
                </a:solidFill>
              </a:rPr>
              <a:t>Correlação não implica causalidade — mas já contraria H1 para roubo e furto, e os municípios litorâneos puxam boa parte desse padrão, motivando a investigação espacial que segue.</a:t>
            </a:r>
          </a:p>
        </p:txBody>
      </p:sp>
      <p:pic>
        <p:nvPicPr>
          <p:cNvPr id="8" name="Picture 7" descr="correlacao_matr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71650"/>
            <a:ext cx="4937760" cy="43205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DESENVOLVIMENTO 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O crime tem endereço: autocorrelação espacial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pa_lisa_fur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35" y="1600200"/>
            <a:ext cx="524637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I = 0,832</a:t>
            </a:r>
          </a:p>
          <a:p>
            <a:pPr algn="ctr"/>
            <a:r>
              <a:rPr sz="1200">
                <a:solidFill>
                  <a:srgbClr val="595959"/>
                </a:solidFill>
                <a:latin typeface="Calibri"/>
              </a:rPr>
              <a:t>Moran's I — taxa de roubo (forte)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69748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I = 0,422</a:t>
            </a:r>
          </a:p>
          <a:p>
            <a:pPr algn="ctr"/>
            <a:r>
              <a:rPr sz="1200">
                <a:solidFill>
                  <a:srgbClr val="595959"/>
                </a:solidFill>
                <a:latin typeface="Calibri"/>
              </a:rPr>
              <a:t>Moran's I — taxa de furto (moderada)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749039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2600" b="1">
                <a:solidFill>
                  <a:srgbClr val="1F4E79"/>
                </a:solidFill>
                <a:latin typeface="Calibri"/>
              </a:rPr>
              <a:t>I = 0,181</a:t>
            </a:r>
          </a:p>
          <a:p>
            <a:pPr algn="ctr"/>
            <a:r>
              <a:rPr sz="1200">
                <a:solidFill>
                  <a:srgbClr val="595959"/>
                </a:solidFill>
                <a:latin typeface="Calibri"/>
              </a:rPr>
              <a:t>Moran's I — lesão corporal (fraca)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846320"/>
            <a:ext cx="4389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Todos significativos a p = 0,001 (999 permutações): o crime não está distribuído ao acaso. LISA (furto): 36 municípios em cluster Alto-Alto acompanham o litoral (36% já são litorâneos/turísticos) — primeira pista quantitativa da H2.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DESENVOLVIMENTO 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Regressão clássica: a renda sozinha não basta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g_multip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8320"/>
            <a:ext cx="6400800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69164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Simples: taxa = 0,971 + 0,00247·renda   R² = 0,129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Com litoral: taxa = 1,036 + 0,00233·renda + 10,97·litoral   R² = 0,357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O litoral soma ~11 furtos/1.000 hab., equivalente a +R$4.700 de renda.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4572000"/>
            <a:ext cx="4297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Distância de Cook: 29 municípios influentes, 8 deles litorâneos — 50% dos 16 municípios do litoral. O padrão litorâneo não é efeito de poucos pontos: é estrutural.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DESENVOLVIMENTO 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O espaço importa: do global ao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Calibri"/>
              </a:rPr>
              <a:t>Os resíduos do modelo clássico têm Moran's I = 0,38 (p&lt;0,001): a dependência espacial é ignorada pelo OLS. Como resolvemos isso?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56616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1. Spatial Error (global)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Testes de Lagrange apontam este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modelo como mais adequado.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λ = 0,588 — resíduo cai a −0,03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ED7D31"/>
                </a:solidFill>
                <a:latin typeface="Calibri"/>
              </a:rPr>
              <a:t>R² = 0,392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3317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331720"/>
            <a:ext cx="356616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2. GWR (renda)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60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Banda adaptativa (~10 vizinhos).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O coeficiente da renda passa a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variar livremente no espaço.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747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ED7D31"/>
                </a:solidFill>
                <a:latin typeface="Calibri"/>
              </a:rPr>
              <a:t>R² = 0,458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331720"/>
            <a:ext cx="3566160" cy="18288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331720"/>
            <a:ext cx="35661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5146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3. GWR + litoral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260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DE6F0"/>
                </a:solidFill>
                <a:latin typeface="Calibri"/>
              </a:rPr>
              <a:t>Banda adaptativa incorporando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DE6F0"/>
                </a:solidFill>
                <a:latin typeface="Calibri"/>
              </a:rPr>
              <a:t>renda e a condição litorânea/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DE6F0"/>
                </a:solidFill>
                <a:latin typeface="Calibri"/>
              </a:rPr>
              <a:t>turística, localmente.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4747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R² = 0,532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F4E79"/>
                </a:solidFill>
                <a:latin typeface="Calibri"/>
              </a:rPr>
              <a:t>Melhor ajuste entre todos os modelos testados — e o menor AIC (3027,4).</a:t>
            </a:r>
          </a:p>
        </p:txBody>
      </p:sp>
      <p:pic>
        <p:nvPicPr>
          <p:cNvPr id="22" name="Picture 21" descr="reg_esp_residuos_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257" y="5349240"/>
            <a:ext cx="1183005" cy="1051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97680" y="5230368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595959"/>
                </a:solidFill>
                <a:latin typeface="Calibri"/>
              </a:rPr>
              <a:t>resíduos do OLS: por que sair dele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DESENVOLVIMENTO 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GWR + litoral: isolando o efeito turístico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wr_contrafactual_d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5" y="1600200"/>
            <a:ext cx="524637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7373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4E79"/>
                </a:solidFill>
                <a:latin typeface="Calibri"/>
              </a:rPr>
              <a:t>Cenário contrafactual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O que acontece se "zerarmos" a variável litoral no GWR e recalcularmos a predição?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A taxa cai em até 12 furtos/1.000 hab. — impacto concentrado inteiramente na faixa costeira.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297680"/>
            <a:ext cx="493776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>
                <a:solidFill>
                  <a:srgbClr val="595959"/>
                </a:solidFill>
              </a:rPr>
              <a:t>Resíduo médio sem a variável litoral:</a:t>
            </a:r>
          </a:p>
          <a:p>
            <a:r>
              <a:rPr sz="1400" b="1">
                <a:solidFill>
                  <a:srgbClr val="ED7D31"/>
                </a:solidFill>
              </a:rPr>
              <a:t>+10,68 nos municípios litorâneos    −0,27 nos demais</a:t>
            </a:r>
          </a:p>
          <a:p>
            <a:r>
              <a:rPr sz="1300">
                <a:solidFill>
                  <a:srgbClr val="595959"/>
                </a:solidFill>
              </a:rPr>
              <a:t>Com a variável incluída, ambos os grupos centram em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DESENVOLVIMENTO 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Onde o modelo erra: o rastro da população flutuante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iduos_mapa_sem_lit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5" y="1600200"/>
            <a:ext cx="524637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73736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O modelo (sem litoral) subestima as ocorrências exatamente no litoral — a faixa costeira concentra a subestimação mais intensa do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743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4E79"/>
                </a:solidFill>
                <a:latin typeface="Calibri"/>
              </a:rPr>
              <a:t>O mecanismo numérico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2004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Numerador (crimes): as ocorrências inflam com o fluxo de turistas no verão.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Denominador (população): o modelo conta só a população residente medida pelo Censo IBGE.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5029200"/>
            <a:ext cx="4937760" cy="109728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>
                <a:solidFill>
                  <a:srgbClr val="663300"/>
                </a:solidFill>
              </a:rPr>
              <a:t>A taxa por 1.000 hab. superestima o risco real para quem mora lá — sem o dummy, o modelo sempre vai subestimar a taxa observada.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DESENVOLVIMENTO 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Quanto R$ 1 de renda pesa — e onde falha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6035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São Paulo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Mongaguá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Renda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R$ 4.547,62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R$ 2.138,21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Banda (GWR)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23,6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41,9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β renda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0,00156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0,00019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t (signif.)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3,28 (significativo)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0,46 (não significativo)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R²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Furto previsto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13,7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13,2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Resíduo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+11,5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+21,0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8288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Em São Paulo e Mongaguá, a previsão do furto é parecida (~13 a 14) — mas só em São Paulo o coeficiente da renda é confiável (t=3,28).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Em Mongaguá, t=0,46 diz que a renda local não explica o crime. O resíduo de +21 é quase todo população turística flutuante.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—  Deixar a renda variar no espaço faz o R² saltar de 0,13 (global) para 0,46 (GWR local): não é só "quanto" de renda existe, é "onde" ela está.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DESENVOLVIMENTO E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Comparação final dos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37360" y="2011680"/>
          <a:ext cx="8686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20116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Sem litoral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Com litoral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</a:rPr>
                        <a:t>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</a:rPr>
                        <a:t>0,129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</a:rPr>
                        <a:t>0,357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</a:rPr>
                        <a:t>+0,228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</a:rPr>
                        <a:t>Spatial Error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</a:rPr>
                        <a:t>0,392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</a:rPr>
                        <a:t>0,444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</a:rPr>
                        <a:t>+0,052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</a:rPr>
                        <a:t>GWR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</a:rPr>
                        <a:t>0,458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</a:rPr>
                        <a:t>0,532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</a:rPr>
                        <a:t>+0,074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37360" y="4480560"/>
            <a:ext cx="8686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O ganho do litoral é maior no modelo mais simples (OLS, +0,228) e menor nos modelos espaciais (+0,052 no spatial error, +0,074 no GWR) — sinal de que eles já capturavam parte do padrão litorâneo implicitamente, pela geografia.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Calibri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Conclusão: não é pobreza. É território.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73352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A hipótese inicial (H1) não se sustenta: a relação entre renda e furto é positiva em todos os modelos testados, não negativa.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1460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A renda sozinha explica pouco (R²=0,13) e deixa forte autocorrelação espacial nos resíduos clássicos.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374136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3558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Essa estrutura é majoritariamente explicada pela condição litorânea/turística — a população flutuante infla a taxa sobre um denominador de residentes fixos.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97096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A própria relação renda–furto não é estacionária: forte no interior, quase nula no litoral, como o GWR demonstra.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038344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E7D32"/>
                </a:solidFill>
                <a:latin typeface="Calibri"/>
              </a:rPr>
              <a:t>Modelo vencedor: GWR com renda e litoral, R²=0,532 — o melhor ajuste entre todos os testados.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Furto, Renda e Território — UFABC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