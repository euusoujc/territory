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95959"/>
                </a:solidFill>
                <a:latin typeface="Calibri"/>
              </a:rPr>
              <a:t>ANÁLISE DE DADOS PARA PLANEJAMENTO TERRITORIAL • UFABC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F4E79"/>
                </a:solidFill>
                <a:latin typeface="Calibri"/>
              </a:rPr>
              <a:t>Furto, Renda e Território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333333"/>
                </a:solidFill>
                <a:latin typeface="Calibri"/>
              </a:rPr>
              <a:t>Uma análise espacial da criminalidade patrimonial nos municípios de São Paulo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</a:rPr>
              <a:t>Equipe: João Vitor Oliveira, Julio Cesar Salvino, Lucas Amorim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</a:rPr>
              <a:t>Orientação: Prof.ª Flávia da Fonseca Feitosa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HIPÓTESE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A pergunta que originou 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"Acontecem mais crimes nas cidades mais pobres?"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743200"/>
            <a:ext cx="8869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F4E79"/>
                </a:solidFill>
                <a:latin typeface="Calibri"/>
              </a:rPr>
              <a:t>Hipótese inicial (H1): cidades mais pobres registram mais crimes patrimoniais.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38404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645</a:t>
            </a:r>
          </a:p>
          <a:p>
            <a:pPr algn="ctr"/>
            <a:r>
              <a:rPr sz="1200">
                <a:solidFill>
                  <a:srgbClr val="595959"/>
                </a:solidFill>
                <a:latin typeface="Calibri"/>
              </a:rPr>
              <a:t>municípios de São Paulo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38404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  <a:p>
            <a:pPr algn="ctr"/>
            <a:r>
              <a:rPr sz="1200">
                <a:solidFill>
                  <a:srgbClr val="595959"/>
                </a:solidFill>
                <a:latin typeface="Calibri"/>
              </a:rPr>
              <a:t>crimes analisados:
roubo · furto · lesão corporal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8404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  <a:p>
            <a:pPr algn="ctr"/>
            <a:r>
              <a:rPr sz="1200">
                <a:solidFill>
                  <a:srgbClr val="595959"/>
                </a:solidFill>
                <a:latin typeface="Calibri"/>
              </a:rPr>
              <a:t>fontes: SSP-SP (2025)
e IBGE Censo 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DADOS E VARIÁVEIS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Dados e variáveis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5760720"/>
              </a:tblGrid>
              <a:tr h="470262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Variável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Fonte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Descrição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Taxa de roubo (art. 157)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SSP-SP,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Ocorrências / 1.000 hab.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Taxa de furto (art. 155)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SSP-SP, 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Ocorrências / 1.000 hab. — variável dependente principal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Taxa de lesão corporal (art. 129)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SSP-SP,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Ocorrências / 1.000 hab.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Renda média per capita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IBGE, Censo 2022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R$ por habitante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População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IBGE, Tabela 4709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Denominador das taxas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Litorâneo / turístico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Classificação do grupo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Dummy (1/0) — 16 municípios da costa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>
                <a:solidFill>
                  <a:srgbClr val="595959"/>
                </a:solidFill>
                <a:latin typeface="Calibri"/>
              </a:rPr>
              <a:t>—  Chave de junção: código IBGE de 7 dígitos — nunca o nome (a SSP abrevia, ex. "S BARBARA D OESTE"), o que perderia observações na junção.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TAXAS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Como o crime se distribui no espaço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pa_taxa_rou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74240"/>
            <a:ext cx="3749039" cy="3332479"/>
          </a:xfrm>
          <a:prstGeom prst="rect">
            <a:avLst/>
          </a:prstGeom>
        </p:spPr>
      </p:pic>
      <p:pic>
        <p:nvPicPr>
          <p:cNvPr id="6" name="Picture 5" descr="mapa_taxa_fur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2174240"/>
            <a:ext cx="3749039" cy="3332479"/>
          </a:xfrm>
          <a:prstGeom prst="rect">
            <a:avLst/>
          </a:prstGeom>
        </p:spPr>
      </p:pic>
      <p:pic>
        <p:nvPicPr>
          <p:cNvPr id="7" name="Picture 6" descr="mapa_taxa_lesa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2174240"/>
            <a:ext cx="3749039" cy="33324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595959"/>
                </a:solidFill>
                <a:latin typeface="Calibri"/>
              </a:rPr>
              <a:t>Roubo concentra na macrometrópole; furto acompanha o litoral inteiro; lesão corporal é o menos estruturado no espaço.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TAXAS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Por que o furto: cada crime tem seus outliers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029" y="1554480"/>
            <a:ext cx="9759461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11064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Roubo: o outlier mais extremo é de um município não-litorâneo; os litorâneos (laranja) aparecem elevados, mas não dominam o topo.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Furto: os outliers extremos são quase todos litorâneos — Mongaguá e outros municípios da costa aparecem bem acima da nuvem geral de pontos.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Lesão corporal: o outlier extremo é de renda baixíssima e não-litorâneo; os litorâneos ficam perdidos no meio da distribuição.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CORRELAÇÃO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A renda correlaciona positivamente com o furto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58521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463040"/>
              </a:tblGrid>
              <a:tr h="4343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Par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Pearson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Spearman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Roubo × Renda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0,302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0,389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Furto × Renda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0,359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0,380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Lesão corporal × Renda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−0,190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−0,166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749039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33333"/>
                </a:solidFill>
                <a:latin typeface="Calibri"/>
              </a:rPr>
              <a:t>Roubo e furto sobem junto com a renda — o oposto do que H1 previa. Só a lesão corporal cai, e fraco.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84632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300" i="1">
                <a:solidFill>
                  <a:srgbClr val="595959"/>
                </a:solidFill>
              </a:rPr>
              <a:t>Somando os mapas e os outliers do slide anterior a essa correlação: o furto é o único crime em que renda, geografia e outliers litorâneos apontam juntos na mesma direção — por isso ele foi escolhido como variável dependente principal.</a:t>
            </a:r>
          </a:p>
        </p:txBody>
      </p:sp>
      <p:pic>
        <p:nvPicPr>
          <p:cNvPr id="8" name="Picture 7" descr="correlacao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771650"/>
            <a:ext cx="4937760" cy="4320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O crime tem endereço: autocorrelação espacial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pa_lisa_fu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135" y="1600200"/>
            <a:ext cx="524637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645920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I = 0,832</a:t>
            </a:r>
          </a:p>
          <a:p>
            <a:pPr algn="ctr"/>
            <a:r>
              <a:rPr sz="1200">
                <a:solidFill>
                  <a:srgbClr val="595959"/>
                </a:solidFill>
                <a:latin typeface="Calibri"/>
              </a:rPr>
              <a:t>Moran's I — taxa de roubo (forte)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697480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I = 0,422</a:t>
            </a:r>
          </a:p>
          <a:p>
            <a:pPr algn="ctr"/>
            <a:r>
              <a:rPr sz="1200">
                <a:solidFill>
                  <a:srgbClr val="595959"/>
                </a:solidFill>
                <a:latin typeface="Calibri"/>
              </a:rPr>
              <a:t>Moran's I — taxa de furto (moderada)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3749039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I = 0,181</a:t>
            </a:r>
          </a:p>
          <a:p>
            <a:pPr algn="ctr"/>
            <a:r>
              <a:rPr sz="1200">
                <a:solidFill>
                  <a:srgbClr val="595959"/>
                </a:solidFill>
                <a:latin typeface="Calibri"/>
              </a:rPr>
              <a:t>Moran's I — lesão corporal (fraca)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846320"/>
            <a:ext cx="43891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95959"/>
                </a:solidFill>
                <a:latin typeface="Calibri"/>
              </a:rPr>
              <a:t>Todos significativos a p = 0,001 (999 permutações): o crime não está distribuído ao acaso. LISA (furto): 36 municípios em cluster Alto-Alto acompanham o litoral (36% já são litorâneos/turísticos) — primeira pista quantitativa da H2.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Regressão clássica: a renda sozinha não basta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g_multip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98320"/>
            <a:ext cx="6400800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6916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Simples: taxa = 0,971 + 0,00247·renda   R² = 0,129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Com litoral: taxa = 1,036 + 0,00233·renda + 10,97·litoral   R² = 0,357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O litoral soma ~11 furtos/1.000 hab., equivalente a +R$4.700 de renda.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4572000"/>
            <a:ext cx="42976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95959"/>
                </a:solidFill>
                <a:latin typeface="Calibri"/>
              </a:rPr>
              <a:t>Distância de Cook: 29 municípios influentes, 8 deles litorâneos — 50% dos 16 municípios do litoral. O padrão litorâneo não é efeito de poucos pontos: é estrutural.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Por que sair do 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g_esp_residuos_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135" y="1600200"/>
            <a:ext cx="524637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2011680"/>
            <a:ext cx="4389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D7D31"/>
                </a:solidFill>
                <a:latin typeface="Calibri"/>
              </a:rPr>
              <a:t>Moran's I = 0,38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88036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</a:rPr>
              <a:t>dos resíduos do modelo clássico (p &lt; 0,001)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65760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Os resíduos do OLS ainda têm forte autocorrelação espacial: municípios vizinhos erram parecido — o modelo está deixando estrutura espacial de fora.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Isso viola a premissa de independência do OLS e motiva os modelos espaciais que seguem: spatial error e GWR.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O espaço importa: do global ao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33333"/>
                </a:solidFill>
                <a:latin typeface="Calibri"/>
              </a:rPr>
              <a:t>Três formas de tratar a estrutura espacial que o OLS deixou de fora: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77440"/>
            <a:ext cx="3566160" cy="5080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A1A1A"/>
                </a:solidFill>
                <a:latin typeface="Calibri"/>
              </a:rPr>
              <a:t>1. Spatial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3017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</a:rPr>
              <a:t>Global. Testes de Lagrange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</a:rPr>
              <a:t>apontam este modelo como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</a:rPr>
              <a:t>mais adequado.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</a:rPr>
              <a:t>λ = 0,588 · resíduo: 0,38 → −0,03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7D31"/>
                </a:solidFill>
                <a:latin typeface="Calibri"/>
              </a:rPr>
              <a:t>R² = 0,392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37744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2377440"/>
            <a:ext cx="3566160" cy="5080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65176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A1A1A"/>
                </a:solidFill>
                <a:latin typeface="Calibri"/>
              </a:rPr>
              <a:t>2. GWR (renda)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246120"/>
            <a:ext cx="3017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</a:rPr>
              <a:t>Local. Banda adaptativa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</a:rPr>
              <a:t>(~10 vizinhos) — o coeficiente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</a:rPr>
              <a:t>da renda passa a variar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</a:rPr>
              <a:t>livremente no espaço.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7548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7D31"/>
                </a:solidFill>
                <a:latin typeface="Calibri"/>
              </a:rPr>
              <a:t>R² = 0,458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2377440"/>
            <a:ext cx="3566160" cy="329184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2377440"/>
            <a:ext cx="3566160" cy="5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65176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3. GWR + litoral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246120"/>
            <a:ext cx="3017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DDE6F0"/>
                </a:solidFill>
                <a:latin typeface="Calibri"/>
              </a:rPr>
              <a:t>Local. Banda adaptativa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DDE6F0"/>
                </a:solidFill>
                <a:latin typeface="Calibri"/>
              </a:rPr>
              <a:t>incorporando renda e a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DDE6F0"/>
                </a:solidFill>
                <a:latin typeface="Calibri"/>
              </a:rPr>
              <a:t>condição litorânea/turística,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DDE6F0"/>
                </a:solidFill>
                <a:latin typeface="Calibri"/>
              </a:rPr>
              <a:t>localmente.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7548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R² = 0,532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1F4E79"/>
                </a:solidFill>
                <a:latin typeface="Calibri"/>
              </a:rPr>
              <a:t>Melhor ajuste entre todos os modelos testados — e o menor AIC (3027,4).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GWR + litoral: isolando o efeito turístico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wr_contrafactual_d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535" y="1600200"/>
            <a:ext cx="524637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73736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F4E79"/>
                </a:solidFill>
                <a:latin typeface="Calibri"/>
              </a:rPr>
              <a:t>Cenário contrafactual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2860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O que acontece se "zerarmos" a variável litoral no GWR e recalcularmos a predição?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A taxa cai em até 12 furtos/1.000 hab. — impacto concentrado inteiramente na faixa costeira.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4297680"/>
            <a:ext cx="4937760" cy="1828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300">
                <a:solidFill>
                  <a:srgbClr val="595959"/>
                </a:solidFill>
              </a:rPr>
              <a:t>Resíduo médio sem a variável litoral:</a:t>
            </a:r>
          </a:p>
          <a:p>
            <a:r>
              <a:rPr sz="1400" b="1">
                <a:solidFill>
                  <a:srgbClr val="ED7D31"/>
                </a:solidFill>
              </a:rPr>
              <a:t>+10,68 nos municípios litorâneos    −0,27 nos demais</a:t>
            </a:r>
          </a:p>
          <a:p>
            <a:r>
              <a:rPr sz="1300">
                <a:solidFill>
                  <a:srgbClr val="595959"/>
                </a:solidFill>
              </a:rPr>
              <a:t>Com a variável incluída, ambos os grupos centram em zero.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Onde o modelo erra: o rastro da população flutuante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siduos_mapa_sem_lit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535" y="1600200"/>
            <a:ext cx="524637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73736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33333"/>
                </a:solidFill>
                <a:latin typeface="Calibri"/>
              </a:rPr>
              <a:t>O modelo (sem litoral) subestima as ocorrências exatamente no litoral — a faixa costeira concentra a subestimação mais intensa do estado.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7432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4E79"/>
                </a:solidFill>
                <a:latin typeface="Calibri"/>
              </a:rPr>
              <a:t>O mecanismo numérico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20040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Numerador (crimes): as ocorrências inflam com o fluxo de turistas no verão.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Denominador (população): o modelo conta só a população residente medida pelo Censo IBGE.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5029200"/>
            <a:ext cx="4937760" cy="1097280"/>
          </a:xfrm>
          <a:prstGeom prst="roundRect">
            <a:avLst>
              <a:gd name="adj" fmla="val 8000"/>
            </a:avLst>
          </a:prstGeom>
          <a:solidFill>
            <a:srgbClr val="FDEEE3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300">
                <a:solidFill>
                  <a:srgbClr val="663300"/>
                </a:solidFill>
              </a:rPr>
              <a:t>A taxa por 1.000 hab. superestima o risco real para quem mora lá — sem o dummy, o modelo sempre vai subestimar a taxa observada.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Quanto R$ 1 de renda pesa — e onde falha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60350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Métrica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São Paulo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Mongaguá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Renda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R$ 4.547,62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R$ 2.138,21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Banda (GWR)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23,6 km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41,9 km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β renda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0,00156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0,00019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t (signif.)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3,28 (significativo)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0,46 (não significativo)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R² local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0,31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0,18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Furto previsto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13,7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13,2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Resíduo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+11,5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+21,0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182880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Em São Paulo e Mongaguá, a previsão do furto é parecida (~13 a 14) — mas só em São Paulo o coeficiente da renda é confiável (t=3,28).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Em Mongaguá, t=0,46 diz que a renda local não explica o crime. O resíduo de +21 é quase todo população turística flutuante.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—  Deixar a renda variar no espaço faz o R² saltar de 0,13 (global) para 0,46 (GWR local): não é só "quanto" de renda existe, é "onde" ela está.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DESENVOLVIMENTO 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Comparação final dos modelos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737360" y="2011680"/>
          <a:ext cx="8686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Modelo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Sem litoral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Com litoral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</a:rPr>
                        <a:t>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</a:rPr>
                        <a:t>0,129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</a:rPr>
                        <a:t>0,357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</a:rPr>
                        <a:t>+0,228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</a:rPr>
                        <a:t>Spatial Error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</a:rPr>
                        <a:t>0,392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</a:rPr>
                        <a:t>0,444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</a:rPr>
                        <a:t>+0,052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</a:rPr>
                        <a:t>GWR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</a:rPr>
                        <a:t>0,458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</a:rPr>
                        <a:t>0,532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</a:rPr>
                        <a:t>+0,074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737360" y="4480560"/>
            <a:ext cx="8686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</a:rPr>
              <a:t>O ganho do litoral é maior no modelo mais simples (OLS, +0,228) e menor nos modelos espaciais (+0,052 no spatial error, +0,074 no GWR) — sinal de que eles já capturavam parte do padrão litorâneo implicitamente, pela geografia.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4E79"/>
                </a:solidFill>
                <a:latin typeface="Calibri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Conclusão: não é pobreza. É território.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64240" cy="279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73352"/>
            <a:ext cx="10424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A1A1A"/>
                </a:solidFill>
                <a:latin typeface="Calibri"/>
              </a:rPr>
              <a:t>A hipótese inicial (H1) não se sustenta: a relação entre renda e furto é positiva em todos os modelos testados, não negativa.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32888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14600"/>
            <a:ext cx="10424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A1A1A"/>
                </a:solidFill>
                <a:latin typeface="Calibri"/>
              </a:rPr>
              <a:t>A renda sozinha explica pouco (R²=0,13) e deixa forte autocorrelação espacial nos resíduos clássicos.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374136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355848"/>
            <a:ext cx="10424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A1A1A"/>
                </a:solidFill>
                <a:latin typeface="Calibri"/>
              </a:rPr>
              <a:t>Essa estrutura é majoritariamente explicada pela condição litorânea/turística — a população flutuante infla a taxa sobre um denominador de residentes fixos.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215384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197096"/>
            <a:ext cx="10424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A1A1A"/>
                </a:solidFill>
                <a:latin typeface="Calibri"/>
              </a:rPr>
              <a:t>A própria relação renda–furto não é estacionária: forte no interior, quase nula no litoral, como o GWR demonstra.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038344"/>
            <a:ext cx="10424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E7D32"/>
                </a:solidFill>
                <a:latin typeface="Calibri"/>
              </a:rPr>
              <a:t>Modelo vencedor: GWR com renda e litoral, R²=0,532 — o melhor ajuste entre todos os testados.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Furto, Renda e Território — UFABC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