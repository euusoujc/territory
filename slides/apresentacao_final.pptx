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F4E79"/>
                </a:solidFill>
                <a:latin typeface="Calibri"/>
              </a:rPr>
              <a:t>Furto, Renda e Território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333"/>
                </a:solidFill>
                <a:latin typeface="Calibri"/>
              </a:rPr>
              <a:t>Uma análise espacial da criminalidade patrimonial</a:t>
            </a:r>
          </a:p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333"/>
                </a:solidFill>
                <a:latin typeface="Calibri"/>
              </a:rPr>
              <a:t>nos municípios de São Paulo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595959"/>
                </a:solidFill>
                <a:latin typeface="Calibri"/>
              </a:rPr>
              <a:t>João Vitor Oliveira   •   Julio Cesar Salvino   •   Lucas Amorim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95959"/>
                </a:solidFill>
                <a:latin typeface="Calibri"/>
              </a:rPr>
              <a:t>Centro de Matemática, Computação e Cognição — UFABC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95959"/>
                </a:solidFill>
                <a:latin typeface="Calibri"/>
              </a:rPr>
              <a:t>Análise de Dados para Planejamento Territorial · Orientação: Prof.ª Flávia da Fonseca Feitosa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HIPÓTESE E MOTIVAÇÃO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A1A1A"/>
                </a:solidFill>
                <a:latin typeface="Calibri"/>
              </a:rPr>
              <a:t>Acontecem mais crimes nas cidades mais pobres?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6126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—  Hipótese de senso comum sobre criminalidade (H1): renda baixa → mais crime.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—  Testada com a taxa de furto (art. 155) por 1.000 hab. nos 645 municípios de SP,
contra a renda média per capita (Censo IBGE 2022).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—  Por que taxa e não contagem? A contagem bruta acompanha o tamanho da
população — qualquer mapa de contagem destaca só as cidades grandes.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—  Fontes: SSP-SP (ocorrências, 2025) e IBGE (renda e população, Censo 2022).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1828800"/>
            <a:ext cx="448056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645</a:t>
            </a:r>
          </a:p>
          <a:p>
            <a:pPr algn="ctr"/>
            <a:r>
              <a:rPr sz="1200">
                <a:solidFill>
                  <a:srgbClr val="595959"/>
                </a:solidFill>
                <a:latin typeface="Calibri"/>
              </a:rPr>
              <a:t>municípios de São Paulo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3200400"/>
            <a:ext cx="448056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  <a:p>
            <a:pPr algn="ctr"/>
            <a:r>
              <a:rPr sz="1200">
                <a:solidFill>
                  <a:srgbClr val="595959"/>
                </a:solidFill>
                <a:latin typeface="Calibri"/>
              </a:rPr>
              <a:t>crimes analisados:
roubo · furto · lesão corporal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4572000"/>
            <a:ext cx="448056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por 1.000 hab.</a:t>
            </a:r>
          </a:p>
          <a:p>
            <a:pPr algn="ctr"/>
            <a:r>
              <a:rPr sz="1200">
                <a:solidFill>
                  <a:srgbClr val="595959"/>
                </a:solidFill>
                <a:latin typeface="Calibri"/>
              </a:rPr>
              <a:t>unidade de análise
(comparável entre municípios)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HIPÓTESE E MOTIVAÇÃO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A1A1A"/>
                </a:solidFill>
                <a:latin typeface="Calibri"/>
              </a:rPr>
              <a:t>A correlação é positiva — o oposto de H1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6126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—  Renda × furto: Pearson = 0,359, Spearman = 0,380 — positivo e significativo.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—  Renda × roubo: também positivo (0,302 / 0,389).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—  Só a lesão corporal correlaciona negativamente, e fraco (−0,19).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77639"/>
            <a:ext cx="6126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F4E79"/>
                </a:solidFill>
                <a:latin typeface="Calibri"/>
              </a:rPr>
              <a:t>Isso abriu espaço para uma segunda hipótese, exploratória: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480560"/>
            <a:ext cx="6126480" cy="1737360"/>
          </a:xfrm>
          <a:prstGeom prst="roundRect">
            <a:avLst>
              <a:gd name="adj" fmla="val 6000"/>
            </a:avLst>
          </a:prstGeom>
          <a:solidFill>
            <a:srgbClr val="FDEEE3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600">
                <a:solidFill>
                  <a:srgbClr val="663300"/>
                </a:solidFill>
                <a:latin typeface="Calibri"/>
              </a:rPr>
              <a:t>H2 — municípios litorâneos/turísticos concentram taxas mais altas: a população flutuante de verão infla o numerador (ocorrências) sobre um denominador que mede só a população residente.</a:t>
            </a:r>
          </a:p>
        </p:txBody>
      </p:sp>
      <p:pic>
        <p:nvPicPr>
          <p:cNvPr id="8" name="Picture 7" descr="mapa_taxa_fu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963420"/>
            <a:ext cx="4480560" cy="3982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DADOS E VARIÁVEIS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A1A1A"/>
                </a:solidFill>
                <a:latin typeface="Calibri"/>
              </a:rPr>
              <a:t>Bases, chave de junção e variáveis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8412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2926080"/>
              </a:tblGrid>
              <a:tr h="444137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Variável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Fonte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Descrição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Taxa de roubo (art. 157)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SSP-SP, 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Ocorrências / 1.000 hab.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Taxa de furto (art. 155)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SSP-SP, 2025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Ocorrências / 1.000 hab.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Taxa de lesão corporal (art. 129)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SSP-SP, 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Ocorrências / 1.000 hab.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Renda média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IBGE, Censo 2022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Renda per capita em R$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População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IBGE, Tabela 4709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Denominador das taxas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Litorâneo/turístico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Classificação do grupo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Dummy (1/0), 16 municípios da costa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74920"/>
            <a:ext cx="8412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>
                <a:solidFill>
                  <a:srgbClr val="595959"/>
                </a:solidFill>
                <a:latin typeface="Calibri"/>
              </a:rPr>
              <a:t>—  Chave de junção: código IBGE de 7 dígitos (nunca o nome — a SSP abrevia,
ex. "S BARBARA D OESTE"): correspondência exata → abreviações → distância de edição ≤ 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DADOS E VARIÁVEIS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A1A1A"/>
                </a:solidFill>
                <a:latin typeface="Calibri"/>
              </a:rPr>
              <a:t>Metodologia: quatro etapas progressivas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595959"/>
                </a:solidFill>
                <a:latin typeface="Calibri"/>
              </a:rPr>
              <a:t>Vizinhança espacial: contiguidade queen de ordem 1, pesos row-standardized (645 municípios, média 5,50 vizinhos; Ilhabela sem vizinhos)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28600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258568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Calibri"/>
              </a:rPr>
              <a:t>Correlação e autocorrelação espacial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60604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95959"/>
                </a:solidFill>
                <a:latin typeface="Calibri"/>
              </a:rPr>
              <a:t>Pearson/Spearman; Moran's I global e LISA (permutação condicional, 999 simulações)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264408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Calibri"/>
              </a:rPr>
              <a:t>Regressão linear clássica (OLS)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61188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95959"/>
                </a:solidFill>
                <a:latin typeface="Calibri"/>
              </a:rPr>
              <a:t>taxa ~ renda e taxa ~ renda + litoral, com diagnóstico de resíduos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29768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270248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Calibri"/>
              </a:rPr>
              <a:t>Regressão espacial global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61772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95959"/>
                </a:solidFill>
                <a:latin typeface="Calibri"/>
              </a:rPr>
              <a:t>Testes de Multiplicadores de Lagrange → spatial lag (ρ) vs. spatial error (λ)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30352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276088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Calibri"/>
              </a:rPr>
              <a:t>GWR — Regressão Geograficamente Ponderada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62356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95959"/>
                </a:solidFill>
                <a:latin typeface="Calibri"/>
              </a:rPr>
              <a:t>Regressão local por município, núcleo gaussiano, banda adaptativa (k ≈ 10)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DESENVOLVIMENTO E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A1A1A"/>
                </a:solidFill>
                <a:latin typeface="Calibri"/>
              </a:rPr>
              <a:t>Autocorrelação espacial: Moran's I e 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pa_lisa_fu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" y="1691640"/>
            <a:ext cx="5143500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737360"/>
            <a:ext cx="4389120" cy="9601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I = 0,832</a:t>
            </a:r>
          </a:p>
          <a:p>
            <a:pPr algn="ctr"/>
            <a:r>
              <a:rPr sz="1200">
                <a:solidFill>
                  <a:srgbClr val="595959"/>
                </a:solidFill>
                <a:latin typeface="Calibri"/>
              </a:rPr>
              <a:t>Moran's I — taxa de roubo (forte)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2834640"/>
            <a:ext cx="4389120" cy="9601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I = 0,422</a:t>
            </a:r>
          </a:p>
          <a:p>
            <a:pPr algn="ctr"/>
            <a:r>
              <a:rPr sz="1200">
                <a:solidFill>
                  <a:srgbClr val="595959"/>
                </a:solidFill>
                <a:latin typeface="Calibri"/>
              </a:rPr>
              <a:t>Moran's I — taxa de furto (moderada)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3931920"/>
            <a:ext cx="4389120" cy="9601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I = 0,181</a:t>
            </a:r>
          </a:p>
          <a:p>
            <a:pPr algn="ctr"/>
            <a:r>
              <a:rPr sz="1200">
                <a:solidFill>
                  <a:srgbClr val="595959"/>
                </a:solidFill>
                <a:latin typeface="Calibri"/>
              </a:rPr>
              <a:t>Moran's I — lesão corporal (fraca)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5074920"/>
            <a:ext cx="4389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95959"/>
                </a:solidFill>
                <a:latin typeface="Calibri"/>
              </a:rPr>
              <a:t>LISA (furto): 36 municípios em cluster Alto-Alto ao longo do litoral (36% litorâneos/turísticos) e 45 Baixo-Baixo no oeste/centro-sul — todos significativos a p = 0,001 (999 permutações).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DESENVOLVIMENTO E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A1A1A"/>
                </a:solidFill>
                <a:latin typeface="Calibri"/>
              </a:rPr>
              <a:t>Regressão linear clássica: renda explica pouco sozinha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g_multip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44040"/>
            <a:ext cx="6400800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783080"/>
            <a:ext cx="4297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—  Simples: taxa = 0,971 + 0,00247·renda   R² = 0,129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—  Com litoral: taxa = 1,036 + 0,00233·renda + 10,969·litoral   R² = 0,357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—  Litoral soma ~11 furtos/1.000 hab., equivalente a
+R$4.700 de renda.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4892040"/>
            <a:ext cx="42976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95959"/>
                </a:solidFill>
                <a:latin typeface="Calibri"/>
              </a:rPr>
              <a:t>Resíduos não normais e heterocedásticos (Shapiro-Wilk, ncvTest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95959"/>
                </a:solidFill>
                <a:latin typeface="Calibri"/>
              </a:rPr>
              <a:t>p&lt;0,001) e Moran's I dos resíduos = 0,38 → estrutura espacial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95959"/>
                </a:solidFill>
                <a:latin typeface="Calibri"/>
              </a:rPr>
              <a:t>não explicada motiva os modelos espaciais.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DESENVOLVIMENTO E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A1A1A"/>
                </a:solidFill>
                <a:latin typeface="Calibri"/>
              </a:rPr>
              <a:t>Regressão espacial global: spatial error vence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—  Testes de Lagrange (robustos): LM error significativo (p&lt;0,001),
LM lag não significativo (p=0,267) → spatial error é o modelo indicado.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—  λ = 0,588, R² = 0,392, AIC = 3220,6.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—  Moran's I dos resíduos cai de 0,38 para −0,03 — autocorrelação
espacial praticamente eliminada.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029200"/>
            <a:ext cx="548640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300" i="1">
                <a:solidFill>
                  <a:srgbClr val="595959"/>
                </a:solidFill>
              </a:rPr>
              <a:t>Leitura: a dependência espacial está no erro — coerente com uma variável omitida e espacialmente agrupada, como a condição litorânea.</a:t>
            </a:r>
          </a:p>
        </p:txBody>
      </p:sp>
      <p:pic>
        <p:nvPicPr>
          <p:cNvPr id="7" name="Picture 6" descr="reg_esp_residuos_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9370" y="1691640"/>
            <a:ext cx="5143500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DESENVOLVIMENTO E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A1A1A"/>
                </a:solidFill>
                <a:latin typeface="Calibri"/>
              </a:rPr>
              <a:t>GWR: a relação renda–furto não é fixa no espaço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g_esp_gwr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1691640"/>
            <a:ext cx="51435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78308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—  Banda adaptativa (k ≈ 10 vizinhos) → R² quase-global sobe para 0,458,
superando os modelos globais.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—  Coeficiente local da renda varia de −0,00216 a +0,00562 pelo estado;
significativo (|t|&gt;1,96) em 72% dos municípios.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—  R² local varia de 0,05 a 0,64: a renda explica bem o furto no
centro-oeste e mal no litoral e na RMSP — onde H2 prevê que
o turismo domina.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DESENVOLVIMENTO E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A1A1A"/>
                </a:solidFill>
                <a:latin typeface="Calibri"/>
              </a:rPr>
              <a:t>GWR com renda + litoral: coeficientes e significância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wr_lit_coef_r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06040"/>
            <a:ext cx="2880360" cy="2560320"/>
          </a:xfrm>
          <a:prstGeom prst="rect">
            <a:avLst/>
          </a:prstGeom>
        </p:spPr>
      </p:pic>
      <p:pic>
        <p:nvPicPr>
          <p:cNvPr id="6" name="Picture 5" descr="gwr_lit_coef_lit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2606040"/>
            <a:ext cx="2880360" cy="2560320"/>
          </a:xfrm>
          <a:prstGeom prst="rect">
            <a:avLst/>
          </a:prstGeom>
        </p:spPr>
      </p:pic>
      <p:pic>
        <p:nvPicPr>
          <p:cNvPr id="7" name="Picture 6" descr="gwr_lit_t_ren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606040"/>
            <a:ext cx="2880360" cy="2560320"/>
          </a:xfrm>
          <a:prstGeom prst="rect">
            <a:avLst/>
          </a:prstGeom>
        </p:spPr>
      </p:pic>
      <p:pic>
        <p:nvPicPr>
          <p:cNvPr id="8" name="Picture 7" descr="gwr_lit_t_litor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2606040"/>
            <a:ext cx="2880360" cy="2560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95959"/>
                </a:solidFill>
                <a:latin typeface="Calibri"/>
              </a:rPr>
              <a:t>Efeito litorâneo varia de 0 a 22 furtos/1.000 hab.; a estatística t mostra magnitude e significância crescendo do noroeste em direção à RMSP e à Baixada Santista.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DESENVOLVIMENTO E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A1A1A"/>
                </a:solidFill>
                <a:latin typeface="Calibri"/>
              </a:rPr>
              <a:t>Cenário contrafactual: isolando o efeito litorâneo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wr_contrafactual_d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1691640"/>
            <a:ext cx="51435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—  Mantendo os coeficientes locais do GWR, zeramos a variável
litoral e recalculamos a predição.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—  Diferença entre predição real e contrafactual — até 12
furtos/1.000 hab. — concentra-se inteiramente na faixa costeira.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—  Regime separado: no interior, furto cresce com a renda (R²=0,19);
no litoral, reta praticamente plana e num patamar bem mais alto
(R²=0,008) — a renda não explica a variação lá dentro.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DESENVOLVIMENTO E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A1A1A"/>
                </a:solidFill>
                <a:latin typeface="Calibri"/>
              </a:rPr>
              <a:t>Resíduos confirmam o mecanismo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siduos_litoral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92808"/>
            <a:ext cx="6949440" cy="41696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92024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—  Sem litoral: resíduo médio +10,68 (litorâneos) vs. −0,27 (demais).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—  Com litoral: os dois grupos centram em zero.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—  Correlação resíduo × litoral cai de 0,51 para 0,00.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DESENVOLVIMENTO E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A1A1A"/>
                </a:solidFill>
                <a:latin typeface="Calibri"/>
              </a:rPr>
              <a:t>Comparação final dos modelos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280160" y="2011680"/>
          <a:ext cx="67665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645920"/>
                <a:gridCol w="164592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Modelo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Sem litoral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Com litoral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</a:rPr>
                        <a:t>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</a:rPr>
                        <a:t>0,129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</a:rPr>
                        <a:t>0,357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</a:rPr>
                        <a:t>+0,228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</a:rPr>
                        <a:t>Spatial Error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</a:rPr>
                        <a:t>0,392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</a:rPr>
                        <a:t>0,444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</a:rPr>
                        <a:t>+0,052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</a:rPr>
                        <a:t>GWR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</a:rPr>
                        <a:t>0,458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</a:rPr>
                        <a:t>0,532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</a:rPr>
                        <a:t>+0,074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280160" y="4297680"/>
            <a:ext cx="9692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</a:rPr>
              <a:t>O ganho da variável litoral é maior no modelo mais simples (OLS, +0,228) e menor nos modelos espaciais (+0,052 no spatial error, +0,074 no GWR) — sinal de que os modelos espaciais já capturavam parte do padrão litorâneo implicitamente.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2011680"/>
            <a:ext cx="2743200" cy="2011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600" b="1">
                <a:solidFill>
                  <a:srgbClr val="2E7D32"/>
                </a:solidFill>
                <a:latin typeface="Calibri"/>
              </a:rPr>
              <a:t>R² = 0,532</a:t>
            </a:r>
          </a:p>
          <a:p>
            <a:pPr algn="ctr"/>
            <a:r>
              <a:rPr sz="1200">
                <a:solidFill>
                  <a:srgbClr val="595959"/>
                </a:solidFill>
                <a:latin typeface="Calibri"/>
              </a:rPr>
              <a:t>melhor modelo:
GWR renda + litoral
(menor AIC: 3027,4)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CONCLUSÃO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A1A1A"/>
                </a:solidFill>
                <a:latin typeface="Calibri"/>
              </a:rPr>
              <a:t>H1 não se sustenta; H2 explica o padrão observado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—  A relação entre renda e taxa de furto é positiva, não negativa — em toda
correlação simples e em todos os modelos de regressão testados.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—  Três camadas do fenômeno: (i) a renda sozinha deixa estrutura espacial não
explicada nos resíduos; (ii) essa estrutura é majoritariamente absorvida pela
condição litorânea; (iii) mesmo controlando por ela, a relação renda–furto
não é estacionária — forte no interior, quase nula no litoral.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—  Mecanismo mais consistente com a evidência: população flutuante de verão
infla o numerador (ocorrências) sobre um denominador de população residente.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A1A1A"/>
                </a:solidFill>
                <a:latin typeface="Calibri"/>
              </a:rPr>
              <a:t>Direção futura e agradecimentos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—  Incluir uma medida direta de fluxo turístico (hospedagem, pedágios, dados
de telefonia) para testar o mecanismo diretamente, hoje capturado só
indiretamente pela dummy litorânea/turística.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F4E79"/>
                </a:solidFill>
                <a:latin typeface="Calibri"/>
              </a:rPr>
              <a:t>Agradecemos à Prof.ª Flávia da Fonseca Feitosa pela orientação ao longo da disciplina de Análise de Dados para Planejamento Territorial.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</a:rPr>
              <a:t>João Vitor Oliveira · Julio Cesar Salvino · Lucas Amorim — UFABC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