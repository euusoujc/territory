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Arial Narrow"/>
              </a:rPr>
              <a:t>ANÁLISE DE DADOS PARA PLANEJAMENTO TERRITORIAL · UFABC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30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 i="0">
                <a:solidFill>
                  <a:srgbClr val="17222E"/>
                </a:solidFill>
                <a:latin typeface="Arial Narrow"/>
              </a:rPr>
              <a:t>CRIMINALIDADE</a:t>
            </a:r>
          </a:p>
          <a:p>
            <a:r>
              <a:rPr sz="6600" b="1" i="0">
                <a:solidFill>
                  <a:srgbClr val="0B5394"/>
                </a:solidFill>
                <a:latin typeface="Arial Narrow"/>
              </a:rPr>
              <a:t>E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17222E"/>
                </a:solidFill>
                <a:latin typeface="Georgia"/>
              </a:rPr>
              <a:t>Correlação e autocorrelação espacial das taxas de roubo, furto e lesão corporal nos municípios de São Paulo — resultados parciais.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 i="0">
                <a:solidFill>
                  <a:srgbClr val="0B5394"/>
                </a:solidFill>
                <a:latin typeface="Arial Narrow"/>
              </a:rPr>
              <a:t>645</a:t>
            </a:r>
          </a:p>
          <a:p>
            <a:r>
              <a:rPr sz="1100" b="0" i="0">
                <a:solidFill>
                  <a:srgbClr val="5B6B7C"/>
                </a:solidFill>
                <a:latin typeface="Arial Narrow"/>
              </a:rPr>
              <a:t>MUNICÍPIOS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4526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 i="0">
                <a:solidFill>
                  <a:srgbClr val="0B5394"/>
                </a:solidFill>
                <a:latin typeface="Arial Narrow"/>
              </a:rPr>
              <a:t>3</a:t>
            </a:r>
          </a:p>
          <a:p>
            <a:r>
              <a:rPr sz="1100" b="0" i="0">
                <a:solidFill>
                  <a:srgbClr val="5B6B7C"/>
                </a:solidFill>
                <a:latin typeface="Arial Narrow"/>
              </a:rPr>
              <a:t>CRIMES ANALISADOS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4526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 i="0">
                <a:solidFill>
                  <a:srgbClr val="0B5394"/>
                </a:solidFill>
                <a:latin typeface="Arial Narrow"/>
              </a:rPr>
              <a:t>2025</a:t>
            </a:r>
          </a:p>
          <a:p>
            <a:r>
              <a:rPr sz="1100" b="0" i="0">
                <a:solidFill>
                  <a:srgbClr val="5B6B7C"/>
                </a:solidFill>
                <a:latin typeface="Arial Narrow"/>
              </a:rPr>
              <a:t>JAN–DEZ, SSP-SP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4526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 i="0">
                <a:solidFill>
                  <a:srgbClr val="0B5394"/>
                </a:solidFill>
                <a:latin typeface="Arial Narrow"/>
              </a:rPr>
              <a:t>/1.000</a:t>
            </a:r>
          </a:p>
          <a:p>
            <a:r>
              <a:rPr sz="1100" b="0" i="0">
                <a:solidFill>
                  <a:srgbClr val="5B6B7C"/>
                </a:solidFill>
                <a:latin typeface="Arial Narrow"/>
              </a:rPr>
              <a:t>TAXAS POR MIL HAB.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7222E"/>
                </a:solidFill>
                <a:latin typeface="Georgia"/>
              </a:rPr>
              <a:t>João Vitor Oliveira · Julio Cesar Salvino · Lucas Amorim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B6B7C"/>
                </a:solidFill>
                <a:latin typeface="Georgia"/>
              </a:rPr>
              <a:t>Orientação: Prof.ª Flávia da Fonseca Feitosa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MOTIVAÇÃO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Uma pergunta simples,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um padrão inesperado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0800" cy="9601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760" y="1828800"/>
            <a:ext cx="8910320" cy="96012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91440" bIns="91440"/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B5394"/>
                </a:solidFill>
                <a:latin typeface="Arial Narrow"/>
              </a:rPr>
              <a:t>PERGUNTA DE PARTIDA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222E"/>
                </a:solidFill>
                <a:latin typeface="Georgia"/>
              </a:rPr>
              <a:t>“Acontecem mais crimes nas cidades mais pobres?” — cruzamos as ocorrências criminais da SSP-SP com a renda média do Censo 2022.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9692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Na exploração inicial, os municípios com as </a:t>
            </a:r>
            <a:r>
              <a:rPr sz="1600" b="1" i="0">
                <a:solidFill>
                  <a:srgbClr val="17222E"/>
                </a:solidFill>
                <a:latin typeface="Georgia"/>
              </a:rPr>
              <a:t>maiores taxas por habitante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 não eram os mais pobres: eram </a:t>
            </a:r>
            <a:r>
              <a:rPr sz="1600" b="1" i="0">
                <a:solidFill>
                  <a:srgbClr val="17222E"/>
                </a:solidFill>
                <a:latin typeface="Georgia"/>
              </a:rPr>
              <a:t>litorâneos e turísticos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 (Mongaguá, Itanhaém, Ilha Comprida, Peruíbe…).</a:t>
            </a:r>
          </a:p>
          <a:p>
            <a:pPr algn="l">
              <a:spcBef>
                <a:spcPts val="1400"/>
              </a:spcBef>
            </a:pPr>
            <a:r>
              <a:rPr sz="13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A exceção relevante fora do litoral é a capital, </a:t>
            </a:r>
            <a:r>
              <a:rPr sz="1600" b="1" i="0">
                <a:solidFill>
                  <a:srgbClr val="17222E"/>
                </a:solidFill>
                <a:latin typeface="Georgia"/>
              </a:rPr>
              <a:t>São Paulo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.</a:t>
            </a:r>
          </a:p>
          <a:p>
            <a:pPr algn="l">
              <a:spcBef>
                <a:spcPts val="1400"/>
              </a:spcBef>
            </a:pPr>
            <a:r>
              <a:rPr sz="13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Suspeita: a </a:t>
            </a:r>
            <a:r>
              <a:rPr sz="1600" b="1" i="0">
                <a:solidFill>
                  <a:srgbClr val="17222E"/>
                </a:solidFill>
                <a:latin typeface="Georgia"/>
              </a:rPr>
              <a:t>população flutuante de verão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 infla as ocorrências, enquanto o denominador conta apenas residentes → a análise precisava virar </a:t>
            </a:r>
            <a:r>
              <a:rPr sz="1600" b="1" i="0">
                <a:solidFill>
                  <a:srgbClr val="17222E"/>
                </a:solidFill>
                <a:latin typeface="Georgia"/>
              </a:rPr>
              <a:t>espacial</a:t>
            </a:r>
            <a:r>
              <a:rPr sz="1600" b="0" i="0">
                <a:solidFill>
                  <a:srgbClr val="17222E"/>
                </a:solidFill>
                <a:latin typeface="Georgi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DADOS E FONTES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Quatro bases,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uma chave: o código IBGE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0584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3774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 Narrow"/>
                        </a:rPr>
                        <a:t>Base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 Narrow"/>
                        </a:rPr>
                        <a:t>Fonte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 Narrow"/>
                        </a:rPr>
                        <a:t>Conteúdo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Ocorrências criminais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SSP-SP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Boletins jan–dez 2025, por município e rubrica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Renda média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IBGE — Censo 2022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Renda per capita de pessoas com 14 anos ou mais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População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IBGE — Tabela 4709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População residente (denominador das taxas)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Malha municipal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IBGE 2022, via geobr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7222E"/>
                          </a:solidFill>
                          <a:latin typeface="Georgia"/>
                        </a:rPr>
                        <a:t>Polígonos dos 645 municípios (UF 35)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977639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Tudo consolidado num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tabelão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(data/tabelao.csv): uma linha por município, contagens e taxas por 1.000 hab. dos três crimes, mais renda.</a:t>
            </a:r>
          </a:p>
          <a:p>
            <a:pPr algn="l">
              <a:spcBef>
                <a:spcPts val="120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Validação automática: chave única, tipos, NAs — e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42 municípios recuperados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no pareamento de nomes SSP ↔ IBGE (abreviações como “S BARBARA D OESTE”).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HIPÓTESES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Duas hipóteses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em disputa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0800" cy="9144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760" y="1828800"/>
            <a:ext cx="9641840" cy="91440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91440" bIns="91440"/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B5394"/>
                </a:solidFill>
                <a:latin typeface="Arial Narrow"/>
              </a:rPr>
              <a:t>H1 · RENDA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222E"/>
                </a:solidFill>
                <a:latin typeface="Georgia"/>
              </a:rPr>
              <a:t>Municípios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mais pobres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concentram taxas de crime mais altas — esperaríamos correlação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negativa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entre renda e taxas.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71800"/>
            <a:ext cx="50800" cy="10515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760" y="2971800"/>
            <a:ext cx="9641840" cy="105156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91440" bIns="91440"/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2182B"/>
                </a:solidFill>
                <a:latin typeface="Arial Narrow"/>
              </a:rPr>
              <a:t>H2 · LITORAL E TURISMO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222E"/>
                </a:solidFill>
                <a:latin typeface="Georgia"/>
              </a:rPr>
              <a:t>Municípios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litorâneos/turísticos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concentram as maiores taxas, porque a população flutuante de verão infla o numerador enquanto o denominador conta só residentes.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Para testar H2 criamos a dummy litoranea_turistica — default: os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16 municípios da costa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, em arquivo editável (data/litoranea_turistica.csv) para revisão do grupo.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METODOLOGIA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Pipeline reprodutível: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um comando, sem QGIS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0B5394"/>
                </a:solidFill>
                <a:latin typeface="Consolas"/>
              </a:rPr>
              <a:t>Rscript run_espacial.R</a:t>
            </a:r>
            <a:r>
              <a:rPr sz="1400" b="0" i="0">
                <a:solidFill>
                  <a:srgbClr val="5B6B7C"/>
                </a:solidFill>
                <a:latin typeface="Georgia"/>
              </a:rPr>
              <a:t>   —   R com sf · spdep · geobr · ggplot2 · corrplot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9875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1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Constrói e valida o tabelão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(chave IBGE, tipos, NAs)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2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Gera a classificação litorânea/turística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(arquivo editável)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3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Top 5 por crime + correlações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Pearson e Spearman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4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Baixa e recorta a malha do IBGE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(cache local)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5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Moran global (999 permutações) e LISA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— vizinhança queen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6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Mapas coropléticos por quintis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, um por crime</a:t>
            </a:r>
          </a:p>
          <a:p>
            <a:pPr algn="l">
              <a:spcBef>
                <a:spcPts val="900"/>
              </a:spcBef>
            </a:pPr>
            <a:r>
              <a:rPr sz="1700" b="1" i="0">
                <a:solidFill>
                  <a:srgbClr val="0B5394"/>
                </a:solidFill>
                <a:latin typeface="Arial Narrow"/>
              </a:rPr>
              <a:t>7 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Relatório automático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em Markdown + xlsx com todas as tabelas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RESULTADOS · QUEM LIDERA AS TAXAS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Furto é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litorâneo</a:t>
            </a:r>
            <a:r>
              <a:rPr sz="3400" b="1" i="0">
                <a:solidFill>
                  <a:srgbClr val="17222E"/>
                </a:solidFill>
                <a:latin typeface="Arial Narrow"/>
              </a:rPr>
              <a:t>; roubo é metropolitano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50292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731520"/>
                <a:gridCol w="1965960"/>
                <a:gridCol w="731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Top 5 · Furto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taxa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Top 5 · Roubo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taxa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B2182B"/>
                          </a:solidFill>
                          <a:latin typeface="Georgia"/>
                        </a:rPr>
                        <a:t>Mongaguá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34,2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Itapecerica da Serra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10,1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B2182B"/>
                          </a:solidFill>
                          <a:latin typeface="Georgia"/>
                        </a:rPr>
                        <a:t>Itanhaém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27,9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São Paulo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9,5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B2182B"/>
                          </a:solidFill>
                          <a:latin typeface="Georgia"/>
                        </a:rPr>
                        <a:t>Ilha Comprida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26,5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Santo André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8,2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São Paulo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25,2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Embu das Artes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7,5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B2182B"/>
                          </a:solidFill>
                          <a:latin typeface="Georgia"/>
                        </a:rPr>
                        <a:t>Peruíbe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25,1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B2182B"/>
                          </a:solidFill>
                          <a:latin typeface="Georgia"/>
                        </a:rPr>
                        <a:t>São Vicente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7,3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97763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2182B"/>
                </a:solidFill>
                <a:latin typeface="Georgia"/>
              </a:rPr>
              <a:t>Em vermelho: </a:t>
            </a:r>
            <a:r>
              <a:rPr sz="1200" b="0" i="0">
                <a:solidFill>
                  <a:srgbClr val="5B6B7C"/>
                </a:solidFill>
                <a:latin typeface="Georgia"/>
              </a:rPr>
              <a:t>municípios litorâneos/turísticos. Lesão corporal foge ao padrão: topo dominado por municípios pequenos do interior (Balbinos 14,2 — pop. 3.887).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49377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417320"/>
                <a:gridCol w="13258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Taxa média /1.000 hab.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Litorâneos (16)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Demais (629)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Furto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17,98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6,68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Roubo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2,98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0,64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Lesão corporal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5,59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4,32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Renda média (R$)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2.566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2.424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703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Georgia"/>
              </a:rPr>
              <a:t>Litorâneos têm quase </a:t>
            </a:r>
            <a:r>
              <a:rPr sz="1200" b="1" i="0">
                <a:solidFill>
                  <a:srgbClr val="17222E"/>
                </a:solidFill>
                <a:latin typeface="Georgia"/>
              </a:rPr>
              <a:t>3× a taxa de furto</a:t>
            </a:r>
            <a:r>
              <a:rPr sz="1200" b="0" i="0">
                <a:solidFill>
                  <a:srgbClr val="5B6B7C"/>
                </a:solidFill>
                <a:latin typeface="Georgia"/>
              </a:rPr>
              <a:t> e </a:t>
            </a:r>
            <a:r>
              <a:rPr sz="1200" b="1" i="0">
                <a:solidFill>
                  <a:srgbClr val="17222E"/>
                </a:solidFill>
                <a:latin typeface="Georgia"/>
              </a:rPr>
              <a:t>4,7× a de roubo</a:t>
            </a:r>
            <a:r>
              <a:rPr sz="1200" b="0" i="0">
                <a:solidFill>
                  <a:srgbClr val="5B6B7C"/>
                </a:solidFill>
                <a:latin typeface="Georgia"/>
              </a:rPr>
              <a:t> — com renda praticamente igual à média estadual.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RESULTADOS · CORRELAÇÃO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Renda correlaciona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positivamente</a:t>
            </a:r>
            <a:r>
              <a:rPr sz="3400" b="1" i="0">
                <a:solidFill>
                  <a:srgbClr val="17222E"/>
                </a:solidFill>
                <a:latin typeface="Arial Narrow"/>
              </a:rPr>
              <a:t> com furto e roubo</a:t>
            </a:r>
          </a:p>
        </p:txBody>
      </p:sp>
      <p:pic>
        <p:nvPicPr>
          <p:cNvPr id="6" name="Picture 5" descr="correlacao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480713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Furto × roubo: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r = 0,54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— os crimes patrimoniais andam juntos no território.</a:t>
            </a:r>
          </a:p>
          <a:p>
            <a:pPr algn="l">
              <a:spcBef>
                <a:spcPts val="130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Renda × furto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r = 0,36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e renda × roubo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r = 0,30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— sinal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positivo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, o oposto do que a H1 previa. </a:t>
            </a:r>
            <a:r>
              <a:rPr sz="1300" b="1" i="0">
                <a:solidFill>
                  <a:srgbClr val="B2182B"/>
                </a:solidFill>
                <a:latin typeface="Arial Narrow"/>
              </a:rPr>
              <a:t>H1 NÃO CONFIRMADA ATÉ AQUI</a:t>
            </a:r>
          </a:p>
          <a:p>
            <a:pPr algn="l">
              <a:spcBef>
                <a:spcPts val="130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Lesão corporal × renda: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r = −0,19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— única taxa com sinal “esperado”, e fraco.</a:t>
            </a:r>
          </a:p>
          <a:p>
            <a:pPr algn="l">
              <a:spcBef>
                <a:spcPts val="130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Spearman (robusta a outliers como São Paulo) confirma todos os sinais.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RESULTADOS · AUTOCORRELAÇÃO ESPACIAL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Crime tem geografia: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Moran’s I e clusters LISA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484632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43000"/>
                <a:gridCol w="96012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Crime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Moran’s I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p-valor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 Narrow"/>
                        </a:rPr>
                        <a:t>Leitura</a:t>
                      </a:r>
                    </a:p>
                  </a:txBody>
                  <a:tcPr marL="73152" marR="73152" marT="27432" marB="27432">
                    <a:solidFill>
                      <a:srgbClr val="0B539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Roubo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0,832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0,001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forte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Furto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0,422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0,001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moderada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Lesão corporal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7222E"/>
                          </a:solidFill>
                          <a:latin typeface="Georgia"/>
                        </a:rPr>
                        <a:t>0,181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0,001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7222E"/>
                          </a:solidFill>
                          <a:latin typeface="Georgia"/>
                        </a:rPr>
                        <a:t>fraca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429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Queen, pesos row-standardized, 999 permutações (LISA por permutação condicional, como no GeoDa).</a:t>
            </a:r>
          </a:p>
          <a:p>
            <a:pPr algn="l">
              <a:spcBef>
                <a:spcPts val="1100"/>
              </a:spcBef>
            </a:pPr>
            <a:r>
              <a:rPr sz="10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Roubo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: um único grande cluster Alto-Alto —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RMSP + Baixada Santista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 (45 municípios) — e extenso campo Baixo-Baixo no oeste.</a:t>
            </a:r>
          </a:p>
          <a:p>
            <a:pPr algn="l">
              <a:spcBef>
                <a:spcPts val="1100"/>
              </a:spcBef>
            </a:pPr>
            <a:r>
              <a:rPr sz="1000" b="0" i="0">
                <a:solidFill>
                  <a:srgbClr val="B2182B"/>
                </a:solidFill>
                <a:latin typeface="Arial Narrow"/>
              </a:rPr>
              <a:t>■ 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Furto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: cluster Alto-Alto acompanha o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litoral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 — 36% dos municípios do cluster são litorâneos/turísticos. </a:t>
            </a:r>
            <a:r>
              <a:rPr sz="1300" b="1" i="0">
                <a:solidFill>
                  <a:srgbClr val="0B5394"/>
                </a:solidFill>
                <a:latin typeface="Arial Narrow"/>
              </a:rPr>
              <a:t>EVIDÊNCIA A FAVOR DA H2</a:t>
            </a:r>
          </a:p>
          <a:p>
            <a:pPr algn="l">
              <a:spcBef>
                <a:spcPts val="1100"/>
              </a:spcBef>
            </a:pPr>
            <a:r>
              <a:rPr sz="10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Validação cruzada: o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GeoDa</a:t>
            </a:r>
            <a:r>
              <a:rPr sz="1300" b="0" i="0">
                <a:solidFill>
                  <a:srgbClr val="17222E"/>
                </a:solidFill>
                <a:latin typeface="Georgia"/>
              </a:rPr>
              <a:t> reproduziu os índices (I = 0,832 / 0,426 / 0,183; p = 0,001) e a geografia dos clusters.</a:t>
            </a:r>
          </a:p>
        </p:txBody>
      </p:sp>
      <p:pic>
        <p:nvPicPr>
          <p:cNvPr id="8" name="Picture 7" descr="mapa_lisa_rou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483489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6080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Georgia"/>
              </a:rPr>
              <a:t>LISA — roubo. Vermelho: municípios de taxa alta cercados por vizinhos de taxa alta (p ≤ 0,05).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RESULTADOS · MAPAS COROPLÉTICOS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A faixa litorânea salta do mapa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no furto</a:t>
            </a:r>
          </a:p>
        </p:txBody>
      </p:sp>
      <p:pic>
        <p:nvPicPr>
          <p:cNvPr id="6" name="Picture 5" descr="mapa_taxa_fu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49377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72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Georgia"/>
              </a:rPr>
              <a:t>Taxa de furto por 1.000 hab., classes por quintis. Máximo: Mongaguá, 34,2.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Todo o litoral no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quintil superior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 (azul escuro), junto com a macrometrópole e eixos do interior.</a:t>
            </a:r>
          </a:p>
          <a:p>
            <a:pPr algn="l">
              <a:spcBef>
                <a:spcPts val="140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O mesmo padrão não aparece na lesão corporal — reforça que o efeito é dos </a:t>
            </a:r>
            <a:r>
              <a:rPr sz="1400" b="1" i="0">
                <a:solidFill>
                  <a:srgbClr val="17222E"/>
                </a:solidFill>
                <a:latin typeface="Georgia"/>
              </a:rPr>
              <a:t>fluxos turísticos sobre crimes patrimoniais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, não de violência em geral.</a:t>
            </a:r>
          </a:p>
          <a:p>
            <a:pPr algn="l">
              <a:spcBef>
                <a:spcPts val="1400"/>
              </a:spcBef>
            </a:pPr>
            <a:r>
              <a:rPr sz="11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400" b="0" i="0">
                <a:solidFill>
                  <a:srgbClr val="17222E"/>
                </a:solidFill>
                <a:latin typeface="Georgia"/>
              </a:rPr>
              <a:t>Mapas equivalentes para roubo e lesão corporal em outputs/, gerados pelo mesmo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5394"/>
                </a:solidFill>
                <a:latin typeface="Arial Narrow"/>
              </a:rPr>
              <a:t>CONCLUSÕES PARCIAIS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10543032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75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Arial Narro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17222E"/>
                </a:solidFill>
                <a:latin typeface="Arial Narrow"/>
              </a:rPr>
              <a:t>Onde estamos e </a:t>
            </a:r>
            <a:r>
              <a:rPr sz="3400" b="1" i="0">
                <a:solidFill>
                  <a:srgbClr val="0B5394"/>
                </a:solidFill>
                <a:latin typeface="Arial Narrow"/>
              </a:rPr>
              <a:t>para onde vamos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H1 (renda) não se sustenta até aqui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: a correlação entre renda e crimes patrimoniais é positiva; só a lesão corporal tem sinal fraco na direção esperada.</a:t>
            </a:r>
          </a:p>
          <a:p>
            <a:pPr algn="l">
              <a:spcBef>
                <a:spcPts val="1200"/>
              </a:spcBef>
            </a:pPr>
            <a:r>
              <a:rPr sz="1200" b="0" i="0">
                <a:solidFill>
                  <a:srgbClr val="B2182B"/>
                </a:solidFill>
                <a:latin typeface="Arial Narrow"/>
              </a:rPr>
              <a:t>■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H2 (litoral/turismo) acumula evidência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: top 5 de furto, médias por grupo e cluster LISA litorâneo apontam na mesma direção.</a:t>
            </a:r>
          </a:p>
          <a:p>
            <a:pPr algn="l">
              <a:spcBef>
                <a:spcPts val="120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As taxas usam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população residente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— em cidades turísticas isso superestima o risco real. É limitação central a discutir no texto final.</a:t>
            </a:r>
          </a:p>
          <a:p>
            <a:pPr algn="l">
              <a:spcBef>
                <a:spcPts val="1200"/>
              </a:spcBef>
            </a:pPr>
            <a:r>
              <a:rPr sz="1200" b="0" i="0">
                <a:solidFill>
                  <a:srgbClr val="0B5394"/>
                </a:solidFill>
                <a:latin typeface="Arial Narrow"/>
              </a:rPr>
              <a:t>■  </a:t>
            </a:r>
            <a:r>
              <a:rPr sz="1500" b="1" i="0">
                <a:solidFill>
                  <a:srgbClr val="17222E"/>
                </a:solidFill>
                <a:latin typeface="Georgia"/>
              </a:rPr>
              <a:t>Experimentos no GeoDa concluídos e validados</a:t>
            </a:r>
            <a:r>
              <a:rPr sz="1500" b="0" i="0">
                <a:solidFill>
                  <a:srgbClr val="17222E"/>
                </a:solidFill>
                <a:latin typeface="Georgia"/>
              </a:rPr>
              <a:t> contra o pipeline em R (mapas, Moran global e LISA) — ver docs/guia_geoda.md.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50800" cy="1143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760" y="4297680"/>
            <a:ext cx="9824720" cy="114300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91440" bIns="91440"/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B5394"/>
                </a:solidFill>
                <a:latin typeface="Arial Narrow"/>
              </a:rPr>
              <a:t>PRÓXIMOS PASSOS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222E"/>
                </a:solidFill>
                <a:latin typeface="Georgia"/>
              </a:rPr>
              <a:t>1 · Revisar a classificação litorânea/turística (incluir estâncias do interior?)   2 · Testar denominadores com população flutuante   3 · Regressão espacial com renda + dummy   4 · Fechar o relatório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Georgia"/>
              </a:rPr>
              <a:t>Repositório: </a:t>
            </a:r>
            <a:r>
              <a:rPr sz="1300" b="1" i="0">
                <a:solidFill>
                  <a:srgbClr val="17222E"/>
                </a:solidFill>
                <a:latin typeface="Georgia"/>
              </a:rPr>
              <a:t>github.com/euusoujc/territory</a:t>
            </a:r>
            <a:r>
              <a:rPr sz="1300" b="0" i="0">
                <a:solidFill>
                  <a:srgbClr val="5B6B7C"/>
                </a:solidFill>
                <a:latin typeface="Georgia"/>
              </a:rPr>
              <a:t>  ·  pipeline completo: </a:t>
            </a:r>
            <a:r>
              <a:rPr sz="1300" b="0" i="0">
                <a:solidFill>
                  <a:srgbClr val="0B5394"/>
                </a:solidFill>
                <a:latin typeface="Consolas"/>
              </a:rPr>
              <a:t>Rscript run_espacial.R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