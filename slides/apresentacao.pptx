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Arial Narrow"/>
              </a:rPr>
              <a:t>ANÁLISE DE DADOS PARA PLANEJAMENTO TERRITORIAL · UFABC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30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6600" b="1" i="0">
                <a:solidFill>
                  <a:srgbClr val="17222E"/>
                </a:solidFill>
                <a:latin typeface="Arial Narrow"/>
              </a:rPr>
              <a:t>CRIMINALIDADE</a:t>
            </a:r>
          </a:p>
          <a:p>
            <a:r>
              <a:rPr sz="6600" b="1" i="0">
                <a:solidFill>
                  <a:srgbClr val="0B5394"/>
                </a:solidFill>
                <a:latin typeface="Arial Narrow"/>
              </a:rPr>
              <a:t>E TERRITÓRIO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17222E"/>
                </a:solidFill>
                <a:latin typeface="Georgia"/>
              </a:rPr>
              <a:t>Correlação e autocorrelação espacial das taxas de roubo, furto e lesão corporal nos municípios de São Paulo — resultados parciais.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645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MUNICÍPIOS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3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CRIMES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2025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JAN–DEZ, SSP-SP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/1.000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TAXAS POR MIL HAB.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7222E"/>
                </a:solidFill>
                <a:latin typeface="Georgia"/>
              </a:rPr>
              <a:t>João Vitor Oliveira · Julio Cesar Salvino · Lucas Amorim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B6B7C"/>
                </a:solidFill>
                <a:latin typeface="Georgia"/>
              </a:rPr>
              <a:t>Orientação: Prof.ª Flávia da Fonseca Feitosa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MOTIVAÇÃO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Uma pergunta simples,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 padrão inesperado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800" cy="96012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760" y="1828800"/>
            <a:ext cx="8910320" cy="96012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PERGUNTA DE PARTIDA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“Acontecem mais crimes nas cidades mais pobres?” — cruzamos as ocorrências criminais da SSP-SP com a renda média do Censo 2022.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Na exploração inicial, os municípios com as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maiores taxas por habitante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não eram os mais pobres: eram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litorâneos e turísticos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(Mongaguá, Itanhaém, Ilha Comprida, Peruíbe…).</a:t>
            </a:r>
          </a:p>
          <a:p>
            <a:pPr algn="l">
              <a:spcBef>
                <a:spcPts val="140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A exceção relevante fora do litoral é a capital,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São Paulo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Suspeita: a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população flutuante de verão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infla as ocorrências, enquanto o denominador conta apenas residentes → a análise precisava virar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espacial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DADOS E FONTES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Quatro bases,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uma chave: o código IBGE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0584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53035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Base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Fonte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Conteúdo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Ocorrências criminais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SSP-SP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Boletins jan–dez 2025, por município e rubrica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Renda média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 — Censo 2022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Renda per capita de pessoas com 14 anos ou mais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População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 — Tabela 4709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População residente (denominador das taxas)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Malha municipal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 2022, via geobr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Polígonos dos 645 municípios (UF 35)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977639"/>
            <a:ext cx="9692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Tudo consolidado num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tabelão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(data/tabelao.csv): uma linha por município, contagens e taxas por 1.000 hab. dos três crimes, mais renda.</a:t>
            </a:r>
          </a:p>
          <a:p>
            <a:pPr algn="l">
              <a:spcBef>
                <a:spcPts val="120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Validação automática: chave única, tipos, NAs — e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42 municípios recuperados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no pareamento de nomes SSP ↔ IBGE (abreviações como “S BARBARA D OESTE”).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HIPÓTESES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Duas hipóteses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em disputa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800" cy="9144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760" y="1828800"/>
            <a:ext cx="9641840" cy="91440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H1 · RENDA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Municípios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mais pobres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concentram taxas de crime mais altas — esperaríamos correlação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negativa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entre renda e taxas.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71800"/>
            <a:ext cx="50800" cy="10515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3760" y="2971800"/>
            <a:ext cx="9641840" cy="105156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2182B"/>
                </a:solidFill>
                <a:latin typeface="Arial Narrow"/>
              </a:rPr>
              <a:t>H2 · LITORAL E TURISMO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Municípios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litorâneos/turísticos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concentram as maiores taxas, porque a população flutuante de verão infla o numerador enquanto o denominador conta só residentes.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43400"/>
            <a:ext cx="9692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Para testar H2 criamos a dummy litoranea_turistica — default: os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16 municípios da costa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em arquivo editável (data/litoranea_turistica.csv) para revisão do grupo.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METODOLOGIA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Pipeline reprodutível: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 comando, sem QGIS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43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0B5394"/>
                </a:solidFill>
                <a:latin typeface="Consolas"/>
              </a:rPr>
              <a:t>Rscript run_espacial.R</a:t>
            </a:r>
            <a:r>
              <a:rPr sz="1400" b="0" i="0">
                <a:solidFill>
                  <a:srgbClr val="5B6B7C"/>
                </a:solidFill>
                <a:latin typeface="Georgia"/>
              </a:rPr>
              <a:t>   —   R com sf · spdep · geobr · ggplot2 · corrplot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9875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1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Constrói e valida o tabelão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(chave IBGE, tipos, NAs)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2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Gera a classificação litorânea/turística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(arquivo editável)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3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Top 5 por crime + correlações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Pearson e Spearman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4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Baixa e recorta a malha do IBGE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(cache local)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5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Moran global (999 permutações) e LISA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— vizinhança queen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6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Mapas coropléticos por quintis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um por crime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7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Relatório automático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em Markdown + xlsx com todas as tabelas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QUEM LIDERA AS TAXAS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Furto é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litorâneo</a:t>
            </a:r>
            <a:r>
              <a:rPr sz="3400" b="1" i="0">
                <a:solidFill>
                  <a:srgbClr val="17222E"/>
                </a:solidFill>
                <a:latin typeface="Arial Narrow"/>
              </a:rPr>
              <a:t>; roubo é metropolitano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502920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731520"/>
                <a:gridCol w="1965960"/>
                <a:gridCol w="7315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Top 5 · Furto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Top 5 · Roubo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Mongaguá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34,2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Itapecerica da Serra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10,1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Itanhaém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27,9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São Paulo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9,5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Ilha Comprida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26,5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Santo André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8,2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São Paulo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25,2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Embu das Artes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7,5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Peruíbe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25,1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São Vicente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7,3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977639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2182B"/>
                </a:solidFill>
                <a:latin typeface="Georgia"/>
              </a:rPr>
              <a:t>Em vermelho: 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municípios litorâneos/turísticos. Lesão corporal foge ao padrão: topo dominado por municípios pequenos do interior (Balbinos 14,2 — pop. 3.887).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49377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17320"/>
                <a:gridCol w="1325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 média /1.000 hab.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Litorâneos (16)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Demais (629)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Furto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17,98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6,68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Roubo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2,98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Lesão corporal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5,59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4,32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Renda média (R$)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2.566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2.424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70332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Georgia"/>
              </a:rPr>
              <a:t>Litorâneos têm quase </a:t>
            </a:r>
            <a:r>
              <a:rPr sz="1200" b="1" i="0">
                <a:solidFill>
                  <a:srgbClr val="17222E"/>
                </a:solidFill>
                <a:latin typeface="Georgia"/>
              </a:rPr>
              <a:t>3× a taxa de furto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 e </a:t>
            </a:r>
            <a:r>
              <a:rPr sz="1200" b="1" i="0">
                <a:solidFill>
                  <a:srgbClr val="17222E"/>
                </a:solidFill>
                <a:latin typeface="Georgia"/>
              </a:rPr>
              <a:t>4,7× a de roubo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 — com renda praticamente igual à média estadual.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CORRELAÇÃO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Renda correlaciona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positivamente</a:t>
            </a:r>
            <a:r>
              <a:rPr sz="3400" b="1" i="0">
                <a:solidFill>
                  <a:srgbClr val="17222E"/>
                </a:solidFill>
                <a:latin typeface="Arial Narrow"/>
              </a:rPr>
              <a:t> com furto e roubo</a:t>
            </a:r>
          </a:p>
        </p:txBody>
      </p:sp>
      <p:pic>
        <p:nvPicPr>
          <p:cNvPr id="6" name="Picture 5" descr="correlacao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480713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6596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Furto × roubo: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0,54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— os crimes patrimoniais andam juntos no território.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Renda × furto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0,36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e renda × roubo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0,30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— sinal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positivo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o oposto do que a H1 previa. </a:t>
            </a:r>
            <a:r>
              <a:rPr sz="1300" b="1" i="0">
                <a:solidFill>
                  <a:srgbClr val="B2182B"/>
                </a:solidFill>
                <a:latin typeface="Arial Narrow"/>
              </a:rPr>
              <a:t>H1 NÃO CONFIRMADA ATÉ AQUI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Lesão corporal × renda: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−0,19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— única taxa com sinal “esperado”, e fraco.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Spearman (robusta a outliers como São Paulo) confirma todos os sinais.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AUTOCORRELAÇÃO ESPACIAL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Crime tem geografia: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Moran’s I e clusters LISA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4846320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143000"/>
                <a:gridCol w="96012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Crime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Moran’s I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p-valor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Leitura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Roubo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0,832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forte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Furto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0,422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moderada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Lesão corporal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0,181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fraca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4290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Vizinhança queen, pesos row-standardized, 999 permutações.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Roubo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: um único grande cluster Alto-Alto —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RMSP + Baixada Santista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(53 municípios).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B2182B"/>
                </a:solidFill>
                <a:latin typeface="Arial Narrow"/>
              </a:rPr>
              <a:t>■ 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Furto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: cluster Alto-Alto acompanha 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litoral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— 29% dos municípios do cluster são litorâneos/turísticos. </a:t>
            </a:r>
            <a:r>
              <a:rPr sz="1300" b="1" i="0">
                <a:solidFill>
                  <a:srgbClr val="0B5394"/>
                </a:solidFill>
                <a:latin typeface="Arial Narrow"/>
              </a:rPr>
              <a:t>EVIDÊNCIA A FAVOR DA H2</a:t>
            </a:r>
          </a:p>
        </p:txBody>
      </p:sp>
      <p:pic>
        <p:nvPicPr>
          <p:cNvPr id="8" name="Picture 7" descr="mapa_lisa_rou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483489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60807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LISA — roubo. Vermelho: municípios de taxa alta cercados por vizinhos de taxa alta (p ≤ 0,05).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MAPAS COROPLÉTICOS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A faixa litorânea salta do mapa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no furto</a:t>
            </a:r>
          </a:p>
        </p:txBody>
      </p:sp>
      <p:pic>
        <p:nvPicPr>
          <p:cNvPr id="6" name="Picture 5" descr="mapa_tax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4937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Taxa de furto por 1.000 hab., classes por quintis. Máximo: Mongaguá, 34,2.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Todo o litoral no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quintil superior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(azul escuro), junto com a macrometrópole e eixos do interior.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O mesmo padrão não aparece na lesão corporal — reforça que o efeito é dos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fluxos turísticos sobre crimes patrimoniais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não de violência em geral.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Mapas equivalentes para roubo e lesão corporal em outputs/, gerados pelo mesmo pipeline.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CONCLUSÕES PARCIAIS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Onde estamos e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para onde vamos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9875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H1 (renda) não se sustenta até aqui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: a correlação entre renda e crimes patrimoniais é positiva; só a lesão corporal tem sinal fraco na direção esperada.</a:t>
            </a:r>
          </a:p>
          <a:p>
            <a:pPr algn="l">
              <a:spcBef>
                <a:spcPts val="1300"/>
              </a:spcBef>
            </a:pPr>
            <a:r>
              <a:rPr sz="1200" b="0" i="0">
                <a:solidFill>
                  <a:srgbClr val="B2182B"/>
                </a:solidFill>
                <a:latin typeface="Arial Narrow"/>
              </a:rPr>
              <a:t>■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H2 (litoral/turismo) acumula evidência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: top 5 de furto, médias por grupo e cluster LISA litorâneo apontam na mesma direção.</a:t>
            </a:r>
          </a:p>
          <a:p>
            <a:pPr algn="l">
              <a:spcBef>
                <a:spcPts val="130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As taxas usam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população residente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— em cidades turísticas isso superestima o risco real. É limitação central a discutir no texto final.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50800" cy="11430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3760" y="4297680"/>
            <a:ext cx="9824720" cy="114300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PRÓXIMOS PASSOS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1 · Revisar a classificação litorânea/turística (incluir estâncias do interior?)   2 · Testar denominadores com população flutuante   3 · Regressão espacial com renda + dummy   4 · Fechar o relatório final.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Georgia"/>
              </a:rPr>
              <a:t>Repositório: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github.com/euusoujc/territory</a:t>
            </a:r>
            <a:r>
              <a:rPr sz="1300" b="0" i="0">
                <a:solidFill>
                  <a:srgbClr val="5B6B7C"/>
                </a:solidFill>
                <a:latin typeface="Georgia"/>
              </a:rPr>
              <a:t>  ·  pipeline completo: </a:t>
            </a:r>
            <a:r>
              <a:rPr sz="1300" b="0" i="0">
                <a:solidFill>
                  <a:srgbClr val="0B5394"/>
                </a:solidFill>
                <a:latin typeface="Consolas"/>
              </a:rPr>
              <a:t>Rscript run_espacial.R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